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2cfea580aa43ea" /><Relationship Type="http://schemas.openxmlformats.org/officeDocument/2006/relationships/extended-properties" Target="/docProps/app.xml" Id="R1482ec8c61204377" /><Relationship Type="http://schemas.openxmlformats.org/officeDocument/2006/relationships/officeDocument" Target="/ppt/presentation.xml" Id="Rdc152e464da54e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1c40b3698c47d0"/>
  </p:sldMasterIdLst>
  <p:notesMasterIdLst>
    <p:notesMasterId xmlns:r="http://schemas.openxmlformats.org/officeDocument/2006/relationships" r:id="R60e5c3e4d6d04e99"/>
  </p:notesMasterIdLst>
  <p:sldIdLst>
    <p:sldId xmlns:r="http://schemas.openxmlformats.org/officeDocument/2006/relationships" id="256" r:id="R3ebf23eea9bb4517"/>
    <p:sldId xmlns:r="http://schemas.openxmlformats.org/officeDocument/2006/relationships" id="257" r:id="R12ee0350da5d4e71"/>
    <p:sldId xmlns:r="http://schemas.openxmlformats.org/officeDocument/2006/relationships" id="258" r:id="R5a2751a4a81d4f05"/>
    <p:sldId xmlns:r="http://schemas.openxmlformats.org/officeDocument/2006/relationships" id="259" r:id="R5ca544170f004cae"/>
    <p:sldId xmlns:r="http://schemas.openxmlformats.org/officeDocument/2006/relationships" id="260" r:id="R3a4f1a47b82143a2"/>
    <p:sldId xmlns:r="http://schemas.openxmlformats.org/officeDocument/2006/relationships" id="261" r:id="Rf7ae5056b45847bc"/>
    <p:sldId xmlns:r="http://schemas.openxmlformats.org/officeDocument/2006/relationships" id="262" r:id="R18fcac53be914c77"/>
    <p:sldId xmlns:r="http://schemas.openxmlformats.org/officeDocument/2006/relationships" id="263" r:id="R99320511d9b44a66"/>
    <p:sldId xmlns:r="http://schemas.openxmlformats.org/officeDocument/2006/relationships" id="264" r:id="R7650e150908d4496"/>
    <p:sldId xmlns:r="http://schemas.openxmlformats.org/officeDocument/2006/relationships" id="265" r:id="Rdba542f9768149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7cf409fa79419e" /><Relationship Type="http://schemas.openxmlformats.org/officeDocument/2006/relationships/slideMaster" Target="/ppt/slideMasters/slideMaster1.xml" Id="R0b1c40b3698c47d0" /><Relationship Type="http://schemas.openxmlformats.org/officeDocument/2006/relationships/notesMaster" Target="/ppt/notesMasters/notesMaster1.xml" Id="R60e5c3e4d6d04e99" /><Relationship Type="http://schemas.openxmlformats.org/officeDocument/2006/relationships/presProps" Target="/ppt/presProps.xml" Id="R7973e2692d19457b" /><Relationship Type="http://schemas.openxmlformats.org/officeDocument/2006/relationships/tableStyles" Target="/ppt/tableStyles.xml" Id="Rd10225bcfe0f4cdd" /><Relationship Type="http://schemas.openxmlformats.org/officeDocument/2006/relationships/slide" Target="/ppt/slides/slide1.xml" Id="R3ebf23eea9bb4517" /><Relationship Type="http://schemas.openxmlformats.org/officeDocument/2006/relationships/slide" Target="/ppt/slides/slide2.xml" Id="R12ee0350da5d4e71" /><Relationship Type="http://schemas.openxmlformats.org/officeDocument/2006/relationships/slide" Target="/ppt/slides/slide3.xml" Id="R5a2751a4a81d4f05" /><Relationship Type="http://schemas.openxmlformats.org/officeDocument/2006/relationships/slide" Target="/ppt/slides/slide4.xml" Id="R5ca544170f004cae" /><Relationship Type="http://schemas.openxmlformats.org/officeDocument/2006/relationships/slide" Target="/ppt/slides/slide5.xml" Id="R3a4f1a47b82143a2" /><Relationship Type="http://schemas.openxmlformats.org/officeDocument/2006/relationships/slide" Target="/ppt/slides/slide6.xml" Id="Rf7ae5056b45847bc" /><Relationship Type="http://schemas.openxmlformats.org/officeDocument/2006/relationships/slide" Target="/ppt/slides/slide7.xml" Id="R18fcac53be914c77" /><Relationship Type="http://schemas.openxmlformats.org/officeDocument/2006/relationships/slide" Target="/ppt/slides/slide8.xml" Id="R99320511d9b44a66" /><Relationship Type="http://schemas.openxmlformats.org/officeDocument/2006/relationships/slide" Target="/ppt/slides/slide9.xml" Id="R7650e150908d4496" /><Relationship Type="http://schemas.openxmlformats.org/officeDocument/2006/relationships/slide" Target="/ppt/slides/slide10.xml" Id="Rdba542f9768149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2802508a8148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031dc105a44ddd" /><Relationship Type="http://schemas.openxmlformats.org/officeDocument/2006/relationships/notesMaster" Target="/ppt/notesMasters/notesMaster1.xml" Id="R5123fd848a364c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b8b192a5fd498f" /><Relationship Type="http://schemas.openxmlformats.org/officeDocument/2006/relationships/notesMaster" Target="/ppt/notesMasters/notesMaster1.xml" Id="Re651e535c65446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5b3ab27e89405d" /><Relationship Type="http://schemas.openxmlformats.org/officeDocument/2006/relationships/notesMaster" Target="/ppt/notesMasters/notesMaster1.xml" Id="R4328b2710bfb4b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f860034b1547c7" /><Relationship Type="http://schemas.openxmlformats.org/officeDocument/2006/relationships/notesMaster" Target="/ppt/notesMasters/notesMaster1.xml" Id="R3f262e22da4c4a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7a3a7879e4269" /><Relationship Type="http://schemas.openxmlformats.org/officeDocument/2006/relationships/notesMaster" Target="/ppt/notesMasters/notesMaster1.xml" Id="R5d3fa99c89034e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1e7de4b320478c" /><Relationship Type="http://schemas.openxmlformats.org/officeDocument/2006/relationships/notesMaster" Target="/ppt/notesMasters/notesMaster1.xml" Id="R74a19e94dc7743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2208a815134034" /><Relationship Type="http://schemas.openxmlformats.org/officeDocument/2006/relationships/notesMaster" Target="/ppt/notesMasters/notesMaster1.xml" Id="R8defe6f96eb74d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2a668be8d24395" /><Relationship Type="http://schemas.openxmlformats.org/officeDocument/2006/relationships/notesMaster" Target="/ppt/notesMasters/notesMaster1.xml" Id="Ra5b6386418484f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c22e7dd3a44372" /><Relationship Type="http://schemas.openxmlformats.org/officeDocument/2006/relationships/notesMaster" Target="/ppt/notesMasters/notesMaster1.xml" Id="R971088533c2e4c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f32d415ae74e7f" /><Relationship Type="http://schemas.openxmlformats.org/officeDocument/2006/relationships/notesMaster" Target="/ppt/notesMasters/notesMaster1.xml" Id="Rf9eb1a5c703940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Здравствуйте. Astana Walks помогает жителю или гостю Астаны выбрать короткую прогулку. Мы решаем первую задачу НИЦ Smart City: учитываем старт, интересы и свободное время, находим до трёх городских мест и объясняем выбор. Вместо длинного списка человек получает небольшой план с возвращением, источниками и понятными ограничениями. Начнём с ситуации возле EXPO.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Условие хакатона, задача №1, страницы 1–3.</a:t>
            </a:r>
          </a:p>
          <a:p xmlns:a="http://schemas.openxmlformats.org/drawingml/2006/main">
            <a:r>
              <a:t>https://github.com/ltybcs/astana-walks-ai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Пользователь говорит: «У меня 45 минут возле Mega, хочу короткую прогулку». Старт в этом примере смоделирован. При бюджете 45 минут найдены NU Park. Расчётный план занимает 42 минут вместе с возвращением. Посещение и обратная дорога входят в бюджет. Расстояние пока геометрическое: мы прямо предупреждаем, что переходы, ограды и состояние тротуаров могут изменить реальный путь.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output/evaluation.json</a:t>
            </a:r>
          </a:p>
          <a:p xmlns:a="http://schemas.openxmlformats.org/drawingml/2006/main">
            <a:r>
              <a:t>Оценка пути геометрическая, с запасом на обход и возвратом. Это не пешеходная навигация.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фактическом снимке UI план занимает 44 минуты: здесь выбрана другая публичная точка старта, чем в проверке на 42 минуты. В карточке видны объяснение, идея действия, расчётное время, источник и режим генерации. Сведения POI отделены от предложенного действия. Мобильный интерфейс поддерживает установку PWA. Оболочка доступна без сети, но новый подбор требует backend, а ответы API не кэшируются. Установку предыдущей версии на Android с Chrome и запуск по иконке пользователь подтвердил ранее. Новые функции и работу без сети на физическом телефоне отдельно не проверяли.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Фактический скриншот: output/demo-ui.jpg</a:t>
            </a:r>
          </a:p>
          <a:p xmlns:a="http://schemas.openxmlformats.org/drawingml/2006/main">
            <a:r>
              <a:t>output/demo-mobile.jpg</a:t>
            </a:r>
          </a:p>
          <a:p xmlns:a="http://schemas.openxmlformats.org/drawingml/2006/main">
            <a:r>
              <a:t>Режим показанного сценария: RAG + LLM</a:t>
            </a:r>
          </a:p>
          <a:p xmlns:a="http://schemas.openxmlformats.org/drawingml/2006/main">
            <a:r>
              <a:t>UI: 44 мин; evaluator: 42 мин. Разные публичные старты.</a:t>
            </a:r>
          </a:p>
          <a:p xmlns:a="http://schemas.openxmlformats.org/drawingml/2006/main">
            <a:r>
              <a:t>output/ui-check.json</a:t>
            </a:r>
          </a:p>
          <a:p xmlns:a="http://schemas.openxmlformats.org/drawingml/2006/main">
            <a:r>
              <a:t>Настроенная генерация: llama.cpp b11739 (CPU, loopback) / Qwen3-4B-Instruct-2507 Q4_K_M (Unsloth) / astana-local</a:t>
            </a:r>
          </a:p>
          <a:p xmlns:a="http://schemas.openxmlformats.org/drawingml/2006/main">
            <a:r>
              <a:t>output/live-explanations.json</a:t>
            </a:r>
          </a:p>
          <a:p xmlns:a="http://schemas.openxmlformats.org/drawingml/2006/main">
            <a:r>
              <a:t>Полное проверенное объяснение: Парк соответствует интересу в прогулке на воздухе</a:t>
            </a:r>
          </a:p>
          <a:p xmlns:a="http://schemas.openxmlformats.org/drawingml/2006/main">
            <a:r>
              <a:t>https://developer.mozilla.org/en-US/docs/Web/Progressive_web_apps/Guides/Making_PWAs_installable</a:t>
            </a:r>
          </a:p>
          <a:p xmlns:a="http://schemas.openxmlformats.org/drawingml/2006/main">
            <a:r>
              <a:t>PR #7 c31bc7a and quota fix 90ed954. web/sw.js: shell allowlist, API network-only, no query/non-GET caching. HTTPS resource results: output/https-check.json. Physical installation and launch from icon reported by the user on 2026-10-20, not independently observed.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Теперь у приложения есть настоящая уличная карта Leaflet с подложкой OpenStreetMap. На ней видны места каталога, начало и пронумерованные остановки. Карту можно перемещать и масштабировать, а источник открыть из маркера. Линии соединяют остановки по прямой: это схема плана, а не пешеходная навигация. При недоступности подложки остаются точки и список. Внешний сервис тайлов получает IP и область просмотра.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output/map-desktop.jpg</a:t>
            </a:r>
          </a:p>
          <a:p xmlns:a="http://schemas.openxmlformats.org/drawingml/2006/main">
            <a:r>
              <a:t>data/poi.astana.json</a:t>
            </a:r>
          </a:p>
          <a:p xmlns:a="http://schemas.openxmlformats.org/drawingml/2006/main">
            <a:r>
              <a:t>© OpenStreetMap contributors</a:t>
            </a:r>
          </a:p>
          <a:p xmlns:a="http://schemas.openxmlformats.org/drawingml/2006/main">
            <a:r>
              <a:t>web/map.js</a:t>
            </a:r>
          </a:p>
          <a:p xmlns:a="http://schemas.openxmlformats.org/drawingml/2006/main">
            <a:r>
              <a:t>Прямые отрезки не являются дорожным графом; тайлы требуют сети.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 начинается с автоматически собранных публичных POI. BM25 и категории сопоставляют интересы с описаниями, затем планировщик учитывает расстояние, возврат и обязательные ограничения. Модель получает только найденные публичные факты и признаки интересов. После генерации проверяются идентификаторы, структура и известные рискованные утверждения. В записанных основных сценариях LLM принята в 4 из 4 непустых основных сценариев. Локальный fallback использован в 0 случаях. Основные ответы повторно проверены новым guard без генерации; семейный пресет сгенерирован отдельно. Это не новый полный последовательный прогон. Пустая выдача при отсутствии подтверждённой розетки не требует вызова модели. Проверка структуры не гарантирует смысловую достоверность каждой будущей фразы.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app/retrieval.py</a:t>
            </a:r>
          </a:p>
          <a:p xmlns:a="http://schemas.openxmlformats.org/drawingml/2006/main">
            <a:r>
              <a:t>app/generation.py</a:t>
            </a:r>
          </a:p>
          <a:p xmlns:a="http://schemas.openxmlformats.org/drawingml/2006/main">
            <a:r>
              <a:t>app/llm.py</a:t>
            </a:r>
          </a:p>
          <a:p xmlns:a="http://schemas.openxmlformats.org/drawingml/2006/main">
            <a:r>
              <a:t>Actual report: output/evaluation-live.json. 5/5 main scenarios, 131/131 tests. 4/4 eligible scenarios validated, 4 recorded provider calls in main scenarios. Свидетельства получены в разное время: 4 основных ответа повторно проверены новым guard без генерации, семейный пресет сгенерирован отдельно (1 вызов). Принято 5 ответов; всего наблюдалось 6 уникальных вызовов, включая исторический отказ. Это не новый последовательный прогон всех генераций.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поставляемом снимке 1267 реальных OSM POI, собранных 20.10.2026. Для 1010 мест часы не указаны. Мы сохраняем источник, дату, исходный снимок и лицензию. Обновление OSM включается по согласию: срок свежести составляет сутки, а при сетевой ошибке сохраняется последний целый набор. Отдельный живой поиск 2ГИС возвращает одну страницу до десяти карточек по выбранной категории. Лимит — двадцать попыток за скользящие сутки, включая ошибки. Эти карточки не сохраняются и не смешиваются с OSM или RAG.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data/poi.astana.json</a:t>
            </a:r>
          </a:p>
          <a:p xmlns:a="http://schemas.openxmlformats.org/drawingml/2006/main">
            <a:r>
              <a:t>https://www.openstreetmap.org/copyright</a:t>
            </a:r>
          </a:p>
          <a:p xmlns:a="http://schemas.openxmlformats.org/drawingml/2006/main">
            <a:r>
              <a:t>© OpenStreetMap contributors</a:t>
            </a:r>
          </a:p>
          <a:p xmlns:a="http://schemas.openxmlformats.org/drawingml/2006/main">
            <a:r>
              <a:t>ODbL 1.0</a:t>
            </a:r>
          </a:p>
          <a:p xmlns:a="http://schemas.openxmlformats.org/drawingml/2006/main">
            <a:r>
              <a:t>SHA-256 набора: 07dc0a3eb3a9b76b1c8121253cf5c5f1f46d67d991c5eb6b7823d45fccc0aa1e</a:t>
            </a:r>
          </a:p>
          <a:p xmlns:a="http://schemas.openxmlformats.org/drawingml/2006/main">
            <a:r>
              <a:t>app/data_refresh.py</a:t>
            </a:r>
          </a:p>
          <a:p xmlns:a="http://schemas.openxmlformats.org/drawingml/2006/main">
            <a:r>
              <a:t>app/dgis_live.py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Отчёт содержит пять основных сценариев и 131 пройденных автоматических тестов. Проверяются бюджет с возвратом, источники, число рекомендаций и явные ограничения. Тишина не считается доказанной по категории кафе. Розетка требует источника. Детская категория не доказывает безопасность, а ночной запрос не делает неизвестные часы круглосуточными. Дополнительный семейный UI-пресет записан отдельно. Формальный pass и ручное чтение объяснений отвечают на разные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output/evaluation.json</a:t>
            </a:r>
          </a:p>
          <a:p xmlns:a="http://schemas.openxmlformats.org/drawingml/2006/main">
            <a:r>
              <a:t>output/evaluation.json</a:t>
            </a:r>
          </a:p>
          <a:p xmlns:a="http://schemas.openxmlformats.org/drawingml/2006/main">
            <a:r>
              <a:t>Проверки фиксируют поведение прототипа. Они не измеряют удовлетворённость жителей и безопасность городских маршрутов.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Приложение не создаёт аккаунт или историю прогулок и не сохраняет запросы и точные координаты в логах или localStorage. Исходный запрос и старт не передаются модели. 2ГИС получает только фиксированную категорию и границы Астаны; на диске остаются времена попыток для лимита. Уличные тайлы раскрывают область просмотра. Временное HTTPS-демо передаёт трафик через Cloudflare к локальному backend. Поэтому локальная модель не означает, что весь сетевой путь ограничен устройством пользователя.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docs/PRIVACY.md</a:t>
            </a:r>
          </a:p>
          <a:p xmlns:a="http://schemas.openxmlformats.org/drawingml/2006/main">
            <a:r>
              <a:t>app/server.py</a:t>
            </a:r>
          </a:p>
          <a:p xmlns:a="http://schemas.openxmlformats.org/drawingml/2006/main">
            <a:r>
              <a:t>app/llm.py</a:t>
            </a:r>
          </a:p>
          <a:p xmlns:a="http://schemas.openxmlformats.org/drawingml/2006/main">
            <a:r>
              <a:t>web/map.js</a:t>
            </a:r>
          </a:p>
          <a:p xmlns:a="http://schemas.openxmlformats.org/drawingml/2006/main">
            <a:r>
              <a:t>LLM получает признаки интересов и найденные публичные POI: name, category, description, features. Исходный запрос, origin, координаты, расчётные времена, расстояния и opening_hours не передаются. Числа и расписания отображаются отдельно из backend, а не генерируются в свободном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Бизнес-гипотеза — помощник для отелей и туристических стоек, где гостю нужен план на короткое свободное время. Спрос пока не подтверждён. В пилоте измерим долю выбранных планов и полезность объяснений. Следующие шаги — маршрутизация по пешеходным дорогам, проверка свежести часов, оценка с жителями и казахский с английским. Будущие платные позиции потребуют явной маркировки.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docs/CONCEPT.md</a:t>
            </a:r>
          </a:p>
          <a:p xmlns:a="http://schemas.openxmlformats.org/drawingml/2006/main">
            <a:r>
              <a:t>Бизнес-модель и пилот — гипотезы команды. Выручка и спрос не измерялись.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передачи подготовлены исходники, данные с происхождением, сценарии, ограничения и материалы запуска. Прежний снимок сохранён отдельно от расширенной версии. Принят локальный MP4 длительностью 4:10,64: реальные состояния мобильного интерфейса, с отдельной подписанной вставкой прежней инструкции установки. YouTube-публикацию пользователь решил выполнить самостоятельно позже, поэтому ссылка не подменяется вымышленным адресом. Временный сайт зависит от включённого компьютера и туннеля. Проект остаётся прототипом: путь приблизителен, полевой проверки и гарантии безопасности нет. Спасибо, готовы показать фактический сценарий.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доказательства:</a:t>
            </a:r>
          </a:p>
          <a:p xmlns:a="http://schemas.openxmlformats.org/drawingml/2006/main">
            <a:r>
              <a:t>https://github.com/ltybcs/astana-walks-ai</a:t>
            </a:r>
          </a:p>
          <a:p xmlns:a="http://schemas.openxmlformats.org/drawingml/2006/main">
            <a:r>
              <a:t>https://entire-burn-cricket-ashley.trycloudflare.com/</a:t>
            </a:r>
          </a:p>
          <a:p xmlns:a="http://schemas.openxmlformats.org/drawingml/2006/main">
            <a:r>
              <a:t>output/https-check.json</a:t>
            </a:r>
          </a:p>
          <a:p xmlns:a="http://schemas.openxmlformats.org/drawingml/2006/main">
            <a:r>
              <a:t>output/video/final/astana-walks-demo.mp4</a:t>
            </a:r>
          </a:p>
          <a:p xmlns:a="http://schemas.openxmlformats.org/drawingml/2006/main">
            <a:r>
              <a:t>output/video/final-review.json</a:t>
            </a:r>
          </a:p>
          <a:p xmlns:a="http://schemas.openxmlformats.org/drawingml/2006/main">
            <a:r>
              <a:t>One sequential real Chrome tab UI pass, target2fps screenshots. Actual observation timestamps are retained; gaps repeat the last observed frame at real elapsed time. Not a native full-frame screen recording. No desktop or browser chrome captured.</a:t>
            </a:r>
          </a:p>
          <a:p xmlns:a="http://schemas.openxmlformats.org/drawingml/2006/main">
            <a:r>
              <a:t>Пользователь выбрал самостоятельную загрузку позже; публикация YouTube не подтверждена.</a:t>
            </a:r>
          </a:p>
          <a:p xmlns:a="http://schemas.openxmlformats.org/drawingml/2006/main">
            <a:r>
              <a:t>Снимок материалов: 2026-10-20T03:33:37+05:00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c2c983a18446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000bec78204f2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f0546a439540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66ff18aacd499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b9daedc33c4d0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feb022f743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E082BF1-F183-46B6-B1DF-8BCB950FB3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9D39664-1C66-47E9-A196-5A9EAA639F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7252887-EBC9-4BEA-A8D5-CAB92B00D4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622ED8-665C-4587-94EA-786DBAF67D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7387EDB-D7FB-4752-8114-E89048F995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D099F4A-EF4E-4CD2-A1C8-CA3A92974F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2998EF-0BE8-41FC-9B6A-1C874E0AEA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A00A750-4FDA-478F-868F-B05D400F2F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E33ACD-1A32-45BF-BEB3-DCE33AEEA3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6B8E42-FEA2-400F-9FFC-E4BA6E172F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233d1c44e34a90" /><Relationship Type="http://schemas.openxmlformats.org/officeDocument/2006/relationships/slideLayout" Target="/ppt/slideLayouts/slideLayout1.xml" Id="Re1caf310d84f48e9" /><Relationship Type="http://schemas.openxmlformats.org/officeDocument/2006/relationships/slideLayout" Target="/ppt/slideLayouts/slideLayout2.xml" Id="Rb087abac35fd4336" /><Relationship Type="http://schemas.openxmlformats.org/officeDocument/2006/relationships/slideLayout" Target="/ppt/slideLayouts/slideLayout3.xml" Id="R3cd693e90d154eff" /><Relationship Type="http://schemas.openxmlformats.org/officeDocument/2006/relationships/slideLayout" Target="/ppt/slideLayouts/slideLayout4.xml" Id="R3ae81cc43f1842dd" /><Relationship Type="http://schemas.openxmlformats.org/officeDocument/2006/relationships/slideLayout" Target="/ppt/slideLayouts/slideLayout5.xml" Id="R2635c3ffbc1b43cb" /><Relationship Type="http://schemas.openxmlformats.org/officeDocument/2006/relationships/slideLayout" Target="/ppt/slideLayouts/slideLayout6.xml" Id="Re5180cc907a145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caf310d84f48e9"/>
    <p:sldLayoutId xmlns:r="http://schemas.openxmlformats.org/officeDocument/2006/relationships" id="2147483650" r:id="Rb087abac35fd4336"/>
    <p:sldLayoutId xmlns:r="http://schemas.openxmlformats.org/officeDocument/2006/relationships" id="2147483651" r:id="R3cd693e90d154eff"/>
    <p:sldLayoutId xmlns:r="http://schemas.openxmlformats.org/officeDocument/2006/relationships" id="2147483652" r:id="R3ae81cc43f1842dd"/>
    <p:sldLayoutId xmlns:r="http://schemas.openxmlformats.org/officeDocument/2006/relationships" id="2147483653" r:id="R2635c3ffbc1b43cb"/>
    <p:sldLayoutId xmlns:r="http://schemas.openxmlformats.org/officeDocument/2006/relationships" id="2147483654" r:id="Re5180cc907a145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36296d688d41df" /><Relationship Type="http://schemas.openxmlformats.org/officeDocument/2006/relationships/notesSlide" Target="/ppt/notesSlides/notesSlide1.xml" Id="Ra0bc4220d69847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caa61833ba42e8" /><Relationship Type="http://schemas.openxmlformats.org/officeDocument/2006/relationships/notesSlide" Target="/ppt/notesSlides/notesSlide2.xml" Id="R5a6aec2e6ba447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2eae081e0c4ea0" /><Relationship Type="http://schemas.openxmlformats.org/officeDocument/2006/relationships/image" Target="/ppt/media/image.jpeg" Id="R5fb158ffb65049f9" /><Relationship Type="http://schemas.openxmlformats.org/officeDocument/2006/relationships/image" Target="/ppt/media/image2.jpeg" Id="R57e9926ca0984468" /><Relationship Type="http://schemas.openxmlformats.org/officeDocument/2006/relationships/notesSlide" Target="/ppt/notesSlides/notesSlide3.xml" Id="R82dea0cdc2984d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874daa11314e17" /><Relationship Type="http://schemas.openxmlformats.org/officeDocument/2006/relationships/image" Target="/ppt/media/image3.jpeg" Id="R0c16dcf02c964620" /><Relationship Type="http://schemas.openxmlformats.org/officeDocument/2006/relationships/notesSlide" Target="/ppt/notesSlides/notesSlide4.xml" Id="Rfe0562c5cd2a4a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125af540764c01" /><Relationship Type="http://schemas.openxmlformats.org/officeDocument/2006/relationships/notesSlide" Target="/ppt/notesSlides/notesSlide5.xml" Id="Rd16e5235309d45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b12cfa7983463b" /><Relationship Type="http://schemas.openxmlformats.org/officeDocument/2006/relationships/notesSlide" Target="/ppt/notesSlides/notesSlide6.xml" Id="R83d880381ff844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5ebcb814049f5" /><Relationship Type="http://schemas.openxmlformats.org/officeDocument/2006/relationships/notesSlide" Target="/ppt/notesSlides/notesSlide7.xml" Id="R1023f615dc4f4d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2790a3f2d749cb" /><Relationship Type="http://schemas.openxmlformats.org/officeDocument/2006/relationships/notesSlide" Target="/ppt/notesSlides/notesSlide8.xml" Id="R5f6054dbca7a49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22ecf9b5f14276" /><Relationship Type="http://schemas.openxmlformats.org/officeDocument/2006/relationships/notesSlide" Target="/ppt/notesSlides/notesSlide9.xml" Id="Rac2805079bd540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52f29b03424571" /><Relationship Type="http://schemas.openxmlformats.org/officeDocument/2006/relationships/notesSlide" Target="/ppt/notesSlides/notesSlide10.xml" Id="R99a9fb0e98b742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DE123-2894-49C7-A7AB-0EA36D09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4914D-03DF-4135-B95F-52FA39A1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47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66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Astana Walks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765A4-84CA-49B7-8DB9-4847EB65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90775"/>
            <a:ext cx="99060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4275" b="0">
                <a:solidFill>
                  <a:srgbClr val="63D3BE"/>
                </a:solidFill>
                <a:latin typeface="Arial"/>
                <a:ea typeface="Arial"/>
                <a:cs typeface="Arial"/>
              </a:rPr>
              <a:t>Помощник для коротких</a:t>
            </a:r>
          </a:p>
          <a:p xmlns:a="http://schemas.openxmlformats.org/drawingml/2006/main">
            <a:pPr algn="l">
              <a:defRPr sz="4275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4275" b="0">
                <a:solidFill>
                  <a:srgbClr val="63D3BE"/>
                </a:solidFill>
                <a:latin typeface="Arial"/>
                <a:ea typeface="Arial"/>
                <a:cs typeface="Arial"/>
              </a:rPr>
              <a:t>прогулок в Астане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B2AB0-9EF2-4C48-974E-F1680896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029200"/>
            <a:ext cx="990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Задача №1 НИЦ Smart City</a:t>
            </a:r>
          </a:p>
          <a:p xmlns:a="http://schemas.openxmlformats.org/drawingml/2006/main">
            <a:pPr algn="l">
              <a:defRPr sz="202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Build with AI / GDG Astana</a:t>
            </a:r>
          </a:p>
        </p:txBody>
      </p:sp>
    </p:spTree>
    <p:extLst>
      <p:ext uri="{BB962C8B-B14F-4D97-AF65-F5344CB8AC3E}">
        <p14:creationId xmlns:p14="http://schemas.microsoft.com/office/powerpoint/2010/main" val="5018210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D1214-40C0-4862-A7F5-F11FE002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Прогулка рядом с EXPO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B018A7-EE7B-4F1F-9EDC-09E7568A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5CE9E-E7B5-4ABE-B2F9-D2D2844D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3048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8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108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EC954-67C6-45B5-88CB-52FDC472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71875"/>
            <a:ext cx="328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минут на прогулку</a:t>
            </a:r>
          </a:p>
          <a:p xmlns:a="http://schemas.openxmlformats.org/drawingml/2006/main">
            <a:pPr algn="l">
              <a:defRPr sz="23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с возвращением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651FED-DDCD-419F-B1A6-65334067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62125"/>
            <a:ext cx="666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«У меня 45 минут возле Mega, хочу короткую прогулку»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F0E74-4437-4A83-B379-D01E57AA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05175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NU Park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CBC79-E499-4FB8-9EA6-B7430642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19675"/>
            <a:ext cx="666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42 мин по расчёту</a:t>
            </a:r>
          </a:p>
          <a:p xmlns:a="http://schemas.openxmlformats.org/drawingml/2006/main">
            <a: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1 место, объяснения и идеи действий</a:t>
            </a:r>
          </a:p>
        </p:txBody>
      </p:sp>
    </p:spTree>
    <p:extLst>
      <p:ext uri="{BB962C8B-B14F-4D97-AF65-F5344CB8AC3E}">
        <p14:creationId xmlns:p14="http://schemas.microsoft.com/office/powerpoint/2010/main" val="20100435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EFD8A-1AC3-419A-B20C-F72969CD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Ответ в интерфейсе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E17EF-286A-4B8D-92AE-B18CBAB7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D667D-5E3F-446B-B740-C5A69AB6A0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b158ffb65049f9"/>
          <a:srcRect xmlns:a="http://schemas.openxmlformats.org/drawingml/2006/main" l="32500" t="49000" r="6500" b="1500"/>
          <a:stretch xmlns:a="http://schemas.openxmlformats.org/drawingml/2006/main"/>
        </p:blipFill>
        <p:spPr>
          <a:xfrm xmlns:a="http://schemas.openxmlformats.org/drawingml/2006/main">
            <a:off x="5715000" y="2044387"/>
            <a:ext cx="5791200" cy="3426452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360F0-8CCA-4DBA-AE53-08BC72F68A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9926ca0984468"/>
          <a:stretch xmlns:a="http://schemas.openxmlformats.org/drawingml/2006/main"/>
        </p:blipFill>
        <p:spPr>
          <a:xfrm xmlns:a="http://schemas.openxmlformats.org/drawingml/2006/main">
            <a:off x="742334" y="1619250"/>
            <a:ext cx="2001482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8CFC5-810E-41D8-9132-0B1D3FF3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28800"/>
            <a:ext cx="2266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Из проверочного</a:t>
            </a:r>
          </a:p>
          <a:p xmlns:a="http://schemas.openxmlformats.org/drawingml/2006/main">
            <a:pPr algn="l">
              <a:defRPr sz="18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прогона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C6CF8-2641-4C49-B27D-B7A421A6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09850"/>
            <a:ext cx="2266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«Парк соответствует интересу в прогулке на воздухе»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B2CB9-1317-4E11-86A9-42444B7B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91125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NU Park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669D6-A0C9-4205-AF65-2F71843A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743575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UI: 44 мин, с возвратом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58A630-0F55-4E00-9E37-05BD55DC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UI: 44 мин; проверка: 42 мин — разные публичные точки старта</a:t>
            </a:r>
          </a:p>
        </p:txBody>
      </p:sp>
    </p:spTree>
    <p:extLst>
      <p:ext uri="{BB962C8B-B14F-4D97-AF65-F5344CB8AC3E}">
        <p14:creationId xmlns:p14="http://schemas.microsoft.com/office/powerpoint/2010/main" val="1700307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343BAA-1E10-4414-82E9-5F42F5BF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Настоящая уличная карта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99CF6-7FF5-4954-83FA-9DFCF42A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2FA20-FE86-483B-9D8E-4B34552BC2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6dcf02c964620"/>
          <a:srcRect xmlns:a="http://schemas.openxmlformats.org/drawingml/2006/main" l="32500" t="9800" r="6500" b="55200"/>
          <a:stretch xmlns:a="http://schemas.openxmlformats.org/drawingml/2006/main"/>
        </p:blipFill>
        <p:spPr>
          <a:xfrm xmlns:a="http://schemas.openxmlformats.org/drawingml/2006/main">
            <a:off x="1018722" y="1504950"/>
            <a:ext cx="10154556" cy="42481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6D526-7F28-42B8-9646-DA4708DE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Точки — из OSM. Прямые связи между остановками не являются навигацией.</a:t>
            </a:r>
          </a:p>
          <a:p xmlns:a="http://schemas.openxmlformats.org/drawingml/2006/main">
            <a: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Внешний сервис тайлов получает IP и область просмотра.</a:t>
            </a:r>
          </a:p>
        </p:txBody>
      </p:sp>
    </p:spTree>
    <p:extLst>
      <p:ext uri="{BB962C8B-B14F-4D97-AF65-F5344CB8AC3E}">
        <p14:creationId xmlns:p14="http://schemas.microsoft.com/office/powerpoint/2010/main" val="7615612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E7D8FD-FC69-4A2B-B0ED-04926628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Как работает RAG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F6D45F-3F04-4942-9117-74121D23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66628-5F69-4C11-A743-E37DCB21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2238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F72015-9D33-4F04-8C7D-7441AE52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7475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Данные POI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41156-3A58-4FE1-8EA1-1F2C8CD2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24288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Автоматический сбор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Публичные POI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Источник и дата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BFE9E-1FC5-4206-A560-70EA2D41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33550"/>
            <a:ext cx="2238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08AE4-74C7-4AFD-8832-283D7BD8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57475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Поиск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CF4C89-7E8D-4AD5-8BF8-CAB5681C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24288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BM25 и категории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Локация и время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Строгие ограничения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0E980-64C2-4D20-989B-872CB8A1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2238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BB836-BC6D-4FF7-BAAF-E071F2EE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57475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Рекомендация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7F63C-7277-4EAB-9E31-BD6B513A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62350"/>
            <a:ext cx="24288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Найденные места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Краткое объяснение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Идея действия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57609-10DC-4BE8-B418-66F81583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33550"/>
            <a:ext cx="2238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868694-01D3-40A6-AF01-381291A8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657475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Проверка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27C47B-1F53-4460-9F7C-4D9D3941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62350"/>
            <a:ext cx="24288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Только известные ID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Бюджет с возвратом</a:t>
            </a:r>
          </a:p>
          <a:p xmlns:a="http://schemas.openxmlformats.org/drawingml/2006/main">
            <a:pPr algn="l">
              <a:defRPr sz="195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Честный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9AB319-71F9-4A24-9E44-BD4E4983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3D3BE"/>
                </a:solidFill>
                <a:latin typeface="Arial"/>
                <a:ea typeface="Arial"/>
                <a:cs typeface="Arial"/>
              </a:rPr>
              <a:t>Генерация: Qwen3-4B-Instruct-2507 Q4_K_M (Unsloth)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292942-32B6-49FA-A5FD-97652E68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245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В свидетельствах: LLM 4/4 непустых, fallback 0</a:t>
            </a:r>
          </a:p>
        </p:txBody>
      </p:sp>
    </p:spTree>
    <p:extLst>
      <p:ext uri="{BB962C8B-B14F-4D97-AF65-F5344CB8AC3E}">
        <p14:creationId xmlns:p14="http://schemas.microsoft.com/office/powerpoint/2010/main" val="7857829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9E623-C841-4454-B6CF-A0E9E3B8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Данные и обновление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E8E9D-074F-49E6-8D04-8BB52D2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56729-0B4B-4EA7-B51C-58257B70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5048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96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1267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D0C0F-61B5-4F0F-9A7F-3A70C82D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242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7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реальных POI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97EC3-BE59-4C55-B178-DAC21681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576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1010 без часов работы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7B3EBD-4E4D-4528-978E-6966D5AB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81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Сбор: 20.10.2026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4C6BF-F201-43C7-8430-90451327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505450"/>
            <a:ext cx="504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© OpenStreetMap contributors</a:t>
            </a:r>
          </a:p>
          <a:p xmlns:a="http://schemas.openxmlformats.org/drawingml/2006/main">
            <a:pPr algn="l">
              <a:defRPr sz="17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ODbL 1.0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A9C75-3B71-45B5-BECB-FA9F7E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57375"/>
            <a:ext cx="523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Astana POI / OpenStreetMap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2D3CF1-864E-4AEF-9EC2-EDE5B033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33725"/>
            <a:ext cx="52387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Снимок OSM с датой и источниками</a:t>
            </a:r>
          </a:p>
          <a:p xmlns:a="http://schemas.openxmlformats.org/drawingml/2006/main">
            <a: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Обновление по согласию, TTL 24 ч</a:t>
            </a:r>
          </a:p>
          <a:p xmlns:a="http://schemas.openxmlformats.org/drawingml/2006/main">
            <a: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При сбое — последний целый набор</a:t>
            </a:r>
          </a:p>
          <a:p xmlns:a="http://schemas.openxmlformats.org/drawingml/2006/main">
            <a:pPr algn="l">
              <a:defRPr sz="187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2ГИС: отдельные живые карточки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792AD7-3C1B-4276-841B-6E38CC33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673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2ГИС: до 10 карточек за запрос</a:t>
            </a:r>
          </a:p>
          <a:p xmlns:a="http://schemas.openxmlformats.org/drawingml/2006/main">
            <a:pPr algn="l">
              <a:defRPr sz="18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20 попыток / 24 ч, без POI-кэша</a:t>
            </a:r>
          </a:p>
        </p:txBody>
      </p:sp>
    </p:spTree>
    <p:extLst>
      <p:ext uri="{BB962C8B-B14F-4D97-AF65-F5344CB8AC3E}">
        <p14:creationId xmlns:p14="http://schemas.microsoft.com/office/powerpoint/2010/main" val="567345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E9A52-9408-4924-9C64-216386C9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Проверка пользовательских сценариев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0998A8-7F37-4379-9A68-261DA9CA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617575-13E6-4AAA-B9D9-F3DED367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33525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90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60CDE-6FBC-4BF7-B3A8-05AE1183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971675"/>
            <a:ext cx="609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131 автоматических тестов пройдено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FD5FF-0672-4E4E-A6C5-02639982F15D}"/>
              </a:ext>
            </a:extLst>
          </p:cNvPr>
          <p:cNvGraphicFramePr/>
          <p:nvPr/>
        </p:nvGraphicFramePr>
        <p:xfrm>
          <a:off xmlns:a="http://schemas.openxmlformats.org/drawingml/2006/main" x="685800" y="3000375"/>
          <a:ext xmlns:a="http://schemas.openxmlformats.org/drawingml/2006/main" cx="10820400" cy="28098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6419850"/>
                <a:gridCol w="4400550"/>
              </a:tblGrid>
              <a:tr h="561975"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F4F0E5"/>
                          </a:solidFill>
                          <a:latin typeface="Arial"/>
                          <a:ea typeface="Arial"/>
                          <a:cs typeface="Arial"/>
                        </a:rPr>
                        <a:t>Прогулка у EXPO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0A2D2E"/>
                      </a:solidFill>
                      <a:prstDash val="solid"/>
                    </a:lnL>
                    <a:lnR w="0">
                      <a:solidFill>
                        <a:srgbClr val="0A2D2E"/>
                      </a:solidFill>
                      <a:prstDash val="solid"/>
                    </a:lnR>
                    <a:lnT w="0">
                      <a:solidFill>
                        <a:srgbClr val="0A2D2E"/>
                      </a:solidFill>
                      <a:prstDash val="solid"/>
                    </a:lnT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AEC8C0"/>
                          </a:solidFill>
                          <a:latin typeface="Arial"/>
                          <a:ea typeface="Arial"/>
                          <a:cs typeface="Arial"/>
                        </a:rPr>
                        <a:t>1 место, 42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0A2D2E"/>
                      </a:solidFill>
                      <a:prstDash val="solid"/>
                    </a:lnR>
                    <a:lnT w="0">
                      <a:solidFill>
                        <a:srgbClr val="0A2D2E"/>
                      </a:solidFill>
                      <a:prstDash val="solid"/>
                    </a:lnT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</a:tr>
              <a:tr h="561975"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F4F0E5"/>
                          </a:solidFill>
                          <a:latin typeface="Arial"/>
                          <a:ea typeface="Arial"/>
                          <a:cs typeface="Arial"/>
                        </a:rPr>
                        <a:t>Кофе, тишина, розетка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0A2D2E"/>
                      </a:solidFill>
                      <a:prstDash val="solid"/>
                    </a:lnL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AEC8C0"/>
                          </a:solidFill>
                          <a:latin typeface="Arial"/>
                          <a:ea typeface="Arial"/>
                          <a:cs typeface="Arial"/>
                        </a:rPr>
                        <a:t>Нет подтверждённых мест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</a:tr>
              <a:tr h="561975"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F4F0E5"/>
                          </a:solidFill>
                          <a:latin typeface="Arial"/>
                          <a:ea typeface="Arial"/>
                          <a:cs typeface="Arial"/>
                        </a:rPr>
                        <a:t>Прогулка с ребёнком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0A2D2E"/>
                      </a:solidFill>
                      <a:prstDash val="solid"/>
                    </a:lnL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AEC8C0"/>
                          </a:solidFill>
                          <a:latin typeface="Arial"/>
                          <a:ea typeface="Arial"/>
                          <a:cs typeface="Arial"/>
                        </a:rPr>
                        <a:t>1 место, 32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</a:tr>
              <a:tr h="561975"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F4F0E5"/>
                          </a:solidFill>
                          <a:latin typeface="Arial"/>
                          <a:ea typeface="Arial"/>
                          <a:cs typeface="Arial"/>
                        </a:rPr>
                        <a:t>Турист, два часа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0A2D2E"/>
                      </a:solidFill>
                      <a:prstDash val="solid"/>
                    </a:lnL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AEC8C0"/>
                          </a:solidFill>
                          <a:latin typeface="Arial"/>
                          <a:ea typeface="Arial"/>
                          <a:cs typeface="Arial"/>
                        </a:rPr>
                        <a:t>3 места, 111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</a:tr>
              <a:tr h="561975"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F4F0E5"/>
                          </a:solidFill>
                          <a:latin typeface="Arial"/>
                          <a:ea typeface="Arial"/>
                          <a:cs typeface="Arial"/>
                        </a:rPr>
                        <a:t>Ночная активность</a:t>
                      </a:r>
                    </a:p>
                  </a:txBody>
                  <a:tcPr marL="91440" marR="91440" marT="45720" marB="45720" anchor="ctr">
                    <a:lnL w="0">
                      <a:solidFill>
                        <a:srgbClr val="0A2D2E"/>
                      </a:solidFill>
                      <a:prstDash val="solid"/>
                    </a:lnL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  <a:tc>
                  <a:txBody>
                    <a:bodyPr lIns="0" tIns="0" rIns="0" bIns="0"/>
                    <a:lstStyle/>
                    <a:p>
                      <a:r>
                        <a:rPr sz="1950">
                          <a:solidFill>
                            <a:srgbClr val="AEC8C0"/>
                          </a:solidFill>
                          <a:latin typeface="Arial"/>
                          <a:ea typeface="Arial"/>
                          <a:cs typeface="Arial"/>
                        </a:rPr>
                        <a:t>1 место, 46 мин</a:t>
                      </a:r>
                    </a:p>
                  </a:txBody>
                  <a:tcPr marL="91440" marR="91440" marT="45720" marB="45720" anchor="ctr">
                    <a:lnR w="0">
                      <a:solidFill>
                        <a:srgbClr val="0A2D2E"/>
                      </a:solidFill>
                      <a:prstDash val="solid"/>
                    </a:lnR>
                    <a:lnB w="0">
                      <a:solidFill>
                        <a:srgbClr val="0A2D2E"/>
                      </a:solidFill>
                      <a:prstDash val="solid"/>
                    </a:lnB>
                    <a:solidFill>
                      <a:srgbClr val="0A2D2E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66966-E514-4666-B20D-7AEC4FED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Формальные ограничения плана; пустой ответ допустим.</a:t>
            </a:r>
          </a:p>
          <a:p xmlns:a="http://schemas.openxmlformats.org/drawingml/2006/main">
            <a:pPr algn="l">
              <a:defRPr sz="1500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Качество текста проверяем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7022656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4EBBC-4726-40C8-ACF4-B19ED79B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Приватность и доверие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CF2F64-36E5-4EB7-8716-EC59724F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9EA5A-1035-4FD9-ADDD-1CB38B52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Локация для одного ответа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1FF22C-01A1-431B-97B4-1EEAB278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38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Запросы и координаты не сохраняются приложением</a:t>
            </a:r>
          </a:p>
          <a:p xmlns:a="http://schemas.openxmlformats.org/drawingml/2006/main">
            <a:pPr algn="l">
              <a:defRPr sz="23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Внешние тайлы получают IP и область просмотра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D0972-560A-48EC-B112-F5A6EA6A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POI-факт отдельно от идеи действия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81754-792D-4313-AC95-3FE6D950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Нет обещания «открыто сейчас», тишины или розетки</a:t>
            </a:r>
          </a:p>
          <a:p xmlns:a="http://schemas.openxmlformats.org/drawingml/2006/main">
            <a:pPr algn="l">
              <a:defRPr sz="2100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без подтверждения в источнике</a:t>
            </a:r>
          </a:p>
        </p:txBody>
      </p:sp>
    </p:spTree>
    <p:extLst>
      <p:ext uri="{BB962C8B-B14F-4D97-AF65-F5344CB8AC3E}">
        <p14:creationId xmlns:p14="http://schemas.microsoft.com/office/powerpoint/2010/main" val="16215879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2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E86DC-F8FA-4F44-B130-F25AB4D9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Бизнес-гипотеза и развитие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21730-13DB-4631-BDF6-764F677A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C6DE2-575B-4F07-B861-0391A852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6096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Пилот для отелей</a:t>
            </a:r>
          </a:p>
          <a:p xmlns:a="http://schemas.openxmlformats.org/drawingml/2006/main">
            <a:pPr algn="l">
              <a:defRPr sz="3225" b="1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4F0E5"/>
                </a:solidFill>
                <a:latin typeface="Arial"/>
                <a:ea typeface="Arial"/>
                <a:cs typeface="Arial"/>
              </a:rPr>
              <a:t>и туристических стоек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DCDA3-3243-446E-935D-1C4A19B5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5905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В пилоте: доля выбранных планов</a:t>
            </a:r>
          </a:p>
          <a:p xmlns:a="http://schemas.openxmlformats.org/drawingml/2006/main">
            <a:pPr algn="l">
              <a:defRPr sz="21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и полезность объяснений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A37F92-AAF6-45BA-B1F9-D6171FAB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8669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63D3B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3D3BE"/>
                </a:solidFill>
                <a:latin typeface="Arial"/>
                <a:ea typeface="Arial"/>
                <a:cs typeface="Arial"/>
              </a:rPr>
              <a:t>Следующие шаги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8BC1D-AE26-45D1-89E4-62AB1B28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52750"/>
            <a:ext cx="3810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Пешеходные маршруты</a:t>
            </a:r>
          </a:p>
          <a:p xmlns:a="http://schemas.openxmlformats.org/drawingml/2006/main">
            <a: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Проверка часов и свежести</a:t>
            </a:r>
          </a:p>
          <a:p xmlns:a="http://schemas.openxmlformats.org/drawingml/2006/main">
            <a: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Оценка с жителями</a:t>
            </a:r>
          </a:p>
          <a:p xmlns:a="http://schemas.openxmlformats.org/drawingml/2006/main">
            <a:pPr algn="l">
              <a:defRPr sz="2025" b="0">
                <a:solidFill>
                  <a:srgbClr val="F4F0E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0E5"/>
                </a:solidFill>
                <a:latin typeface="Arial"/>
                <a:ea typeface="Arial"/>
                <a:cs typeface="Arial"/>
              </a:rPr>
              <a:t>Казахский и английский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F455E3-DF82-40E1-A352-F68BD780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AEC8C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EC8C0"/>
                </a:solidFill>
                <a:latin typeface="Arial"/>
                <a:ea typeface="Arial"/>
                <a:cs typeface="Arial"/>
              </a:rPr>
              <a:t>Коммерческая модель и спрос пока не проверены</a:t>
            </a:r>
          </a:p>
        </p:txBody>
      </p:sp>
    </p:spTree>
    <p:extLst>
      <p:ext uri="{BB962C8B-B14F-4D97-AF65-F5344CB8AC3E}">
        <p14:creationId xmlns:p14="http://schemas.microsoft.com/office/powerpoint/2010/main" val="853239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DFDD3-C140-43E2-AC51-5AC7C00E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Материалы проекта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5A968-01C1-4A6B-8923-7CA155AB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267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24E75-07ED-4287-B497-6D4177EF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572750" cy="240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Карта, мобильный прототип и PWA</a:t>
            </a:r>
          </a:p>
          <a:p xmlns:a="http://schemas.openxmlformats.org/drawingml/2006/main">
            <a: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Автосбор и снимки данных</a:t>
            </a:r>
          </a:p>
          <a:p xmlns:a="http://schemas.openxmlformats.org/drawingml/2006/main">
            <a: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Сценарии, презентация и инструкции</a:t>
            </a:r>
          </a:p>
          <a:p xmlns:a="http://schemas.openxmlformats.org/drawingml/2006/main">
            <a:pPr algn="l">
              <a:defRPr sz="2925" b="1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23C3B"/>
                </a:solidFill>
                <a:latin typeface="Arial"/>
                <a:ea typeface="Arial"/>
                <a:cs typeface="Arial"/>
              </a:rPr>
              <a:t>MP4 готов; YouTube пользователь загрузит позже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F7CC6-E093-4894-B085-B6B24E56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105727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Ограничения: приблизительный путь, неполные POI,</a:t>
            </a:r>
          </a:p>
          <a:p xmlns:a="http://schemas.openxmlformats.org/drawingml/2006/main">
            <a: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нет текущих событий и проверки безопасности</a:t>
            </a:r>
          </a:p>
          <a:p xmlns:a="http://schemas.openxmlformats.org/drawingml/2006/main">
            <a: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Офлайн: оболочка PWA. Подбор требует сервера</a:t>
            </a:r>
          </a:p>
          <a:p xmlns:a="http://schemas.openxmlformats.org/drawingml/2006/main">
            <a:pPr algn="l">
              <a:defRPr sz="2025" b="0">
                <a:solidFill>
                  <a:srgbClr val="55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716A"/>
                </a:solidFill>
                <a:latin typeface="Arial"/>
                <a:ea typeface="Arial"/>
                <a:cs typeface="Arial"/>
              </a:rPr>
              <a:t>Демо зависит от включённых ПК и туннеля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4E2138-25E5-4A2A-A438-0FFA19A9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23C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C3B"/>
                </a:solidFill>
                <a:latin typeface="Arial"/>
                <a:ea typeface="Arial"/>
                <a:cs typeface="Arial"/>
              </a:rPr>
              <a:t>Временно: entire-burn-cricket-ashley.trycloudflare.com</a:t>
            </a:r>
          </a:p>
        </p:txBody>
      </p:sp>
    </p:spTree>
    <p:extLst>
      <p:ext uri="{BB962C8B-B14F-4D97-AF65-F5344CB8AC3E}">
        <p14:creationId xmlns:p14="http://schemas.microsoft.com/office/powerpoint/2010/main" val="7698076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2026-10-19T22:33:42.5560000Z</dcterms:created>
  <dcterms:modified xsi:type="dcterms:W3CDTF">2026-10-19T22:33:42.5560000Z</dcterms:modified>
</coreProperties>
</file>