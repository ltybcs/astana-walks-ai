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27e55210c244e3" /><Relationship Type="http://schemas.openxmlformats.org/officeDocument/2006/relationships/extended-properties" Target="/docProps/app.xml" Id="R85707bb1df09409b" /><Relationship Type="http://schemas.openxmlformats.org/officeDocument/2006/relationships/officeDocument" Target="/ppt/presentation.xml" Id="Rc4fadd52de9443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721dbcb59f4ed3"/>
  </p:sldMasterIdLst>
  <p:notesMasterIdLst>
    <p:notesMasterId xmlns:r="http://schemas.openxmlformats.org/officeDocument/2006/relationships" r:id="R7b9768ecd9034ee1"/>
  </p:notesMasterIdLst>
  <p:sldIdLst>
    <p:sldId xmlns:r="http://schemas.openxmlformats.org/officeDocument/2006/relationships" id="256" r:id="R4c462ac7ce754e2e"/>
    <p:sldId xmlns:r="http://schemas.openxmlformats.org/officeDocument/2006/relationships" id="257" r:id="R1cdfd47e214d41e3"/>
    <p:sldId xmlns:r="http://schemas.openxmlformats.org/officeDocument/2006/relationships" id="258" r:id="R63b1e67466b04161"/>
    <p:sldId xmlns:r="http://schemas.openxmlformats.org/officeDocument/2006/relationships" id="259" r:id="R1c08ae3cfd824346"/>
    <p:sldId xmlns:r="http://schemas.openxmlformats.org/officeDocument/2006/relationships" id="260" r:id="R9ad51ebed64e481c"/>
    <p:sldId xmlns:r="http://schemas.openxmlformats.org/officeDocument/2006/relationships" id="261" r:id="Rc7f2c822f7b44a57"/>
    <p:sldId xmlns:r="http://schemas.openxmlformats.org/officeDocument/2006/relationships" id="262" r:id="Ra02485f6a0774ae5"/>
    <p:sldId xmlns:r="http://schemas.openxmlformats.org/officeDocument/2006/relationships" id="263" r:id="Rc433028e13974cae"/>
    <p:sldId xmlns:r="http://schemas.openxmlformats.org/officeDocument/2006/relationships" id="264" r:id="R57d57c4a5cbf4cdc"/>
    <p:sldId xmlns:r="http://schemas.openxmlformats.org/officeDocument/2006/relationships" id="265" r:id="R07374f3e5fd749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fa8dd24b1440f0" /><Relationship Type="http://schemas.openxmlformats.org/officeDocument/2006/relationships/slideMaster" Target="/ppt/slideMasters/slideMaster1.xml" Id="R81721dbcb59f4ed3" /><Relationship Type="http://schemas.openxmlformats.org/officeDocument/2006/relationships/notesMaster" Target="/ppt/notesMasters/notesMaster1.xml" Id="R7b9768ecd9034ee1" /><Relationship Type="http://schemas.openxmlformats.org/officeDocument/2006/relationships/presProps" Target="/ppt/presProps.xml" Id="R1849e4b76ada4c1f" /><Relationship Type="http://schemas.openxmlformats.org/officeDocument/2006/relationships/tableStyles" Target="/ppt/tableStyles.xml" Id="R6ef74b4d85e34159" /><Relationship Type="http://schemas.openxmlformats.org/officeDocument/2006/relationships/slide" Target="/ppt/slides/slide1.xml" Id="R4c462ac7ce754e2e" /><Relationship Type="http://schemas.openxmlformats.org/officeDocument/2006/relationships/slide" Target="/ppt/slides/slide2.xml" Id="R1cdfd47e214d41e3" /><Relationship Type="http://schemas.openxmlformats.org/officeDocument/2006/relationships/slide" Target="/ppt/slides/slide3.xml" Id="R63b1e67466b04161" /><Relationship Type="http://schemas.openxmlformats.org/officeDocument/2006/relationships/slide" Target="/ppt/slides/slide4.xml" Id="R1c08ae3cfd824346" /><Relationship Type="http://schemas.openxmlformats.org/officeDocument/2006/relationships/slide" Target="/ppt/slides/slide5.xml" Id="R9ad51ebed64e481c" /><Relationship Type="http://schemas.openxmlformats.org/officeDocument/2006/relationships/slide" Target="/ppt/slides/slide6.xml" Id="Rc7f2c822f7b44a57" /><Relationship Type="http://schemas.openxmlformats.org/officeDocument/2006/relationships/slide" Target="/ppt/slides/slide7.xml" Id="Ra02485f6a0774ae5" /><Relationship Type="http://schemas.openxmlformats.org/officeDocument/2006/relationships/slide" Target="/ppt/slides/slide8.xml" Id="Rc433028e13974cae" /><Relationship Type="http://schemas.openxmlformats.org/officeDocument/2006/relationships/slide" Target="/ppt/slides/slide9.xml" Id="R57d57c4a5cbf4cdc" /><Relationship Type="http://schemas.openxmlformats.org/officeDocument/2006/relationships/slide" Target="/ppt/slides/slide10.xml" Id="R07374f3e5fd749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f63309dfdd4e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45e9d7837141fa" /><Relationship Type="http://schemas.openxmlformats.org/officeDocument/2006/relationships/notesMaster" Target="/ppt/notesMasters/notesMaster1.xml" Id="Rca840594679349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546ae8566944c4" /><Relationship Type="http://schemas.openxmlformats.org/officeDocument/2006/relationships/notesMaster" Target="/ppt/notesMasters/notesMaster1.xml" Id="R34e1f82c38f348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14968ca2084143" /><Relationship Type="http://schemas.openxmlformats.org/officeDocument/2006/relationships/notesMaster" Target="/ppt/notesMasters/notesMaster1.xml" Id="R0e717f0b118a41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b998ca49704b98" /><Relationship Type="http://schemas.openxmlformats.org/officeDocument/2006/relationships/notesMaster" Target="/ppt/notesMasters/notesMaster1.xml" Id="R43d5f4fd459f4e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49eded669d4bd4" /><Relationship Type="http://schemas.openxmlformats.org/officeDocument/2006/relationships/notesMaster" Target="/ppt/notesMasters/notesMaster1.xml" Id="R0aa416690b424e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269c2427e94639" /><Relationship Type="http://schemas.openxmlformats.org/officeDocument/2006/relationships/notesMaster" Target="/ppt/notesMasters/notesMaster1.xml" Id="Rc1793ba5323e4a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14cb3f78614895" /><Relationship Type="http://schemas.openxmlformats.org/officeDocument/2006/relationships/notesMaster" Target="/ppt/notesMasters/notesMaster1.xml" Id="Ra2fe0704d65c40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7c8748e90d4fe6" /><Relationship Type="http://schemas.openxmlformats.org/officeDocument/2006/relationships/notesMaster" Target="/ppt/notesMasters/notesMaster1.xml" Id="R5599fab7054b4c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8705a10a0247c8" /><Relationship Type="http://schemas.openxmlformats.org/officeDocument/2006/relationships/notesMaster" Target="/ppt/notesMasters/notesMaster1.xml" Id="Rf889d1dcf8484e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e82962bf3f4a37" /><Relationship Type="http://schemas.openxmlformats.org/officeDocument/2006/relationships/notesMaster" Target="/ppt/notesMasters/notesMaster1.xml" Id="R1d1fec70e8f24e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Здравствуйте. Astana Walks помогает жителю или гостю Астаны выбрать короткую прогулку. Мы решаем первую задачу НИЦ Smart City: учитываем старт, интересы и свободное время, находим до трёх городских мест и объясняем выбор. Вместо длинного списка человек получает небольшой план с возвращением, источниками и понятными ограничениями. Начнём с ситуации возле EXPO.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Условие хакатона, задача №1, страницы 1–3.</a:t>
            </a:r>
          </a:p>
          <a:p xmlns:a="http://schemas.openxmlformats.org/drawingml/2006/main">
            <a:r>
              <a:t>https://github.com/ltybcs/astana-walks-ai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 говорит: «У меня 45 минут возле Mega, хочу короткую прогулку». Старт в этом примере смоделирован. При бюджете 45 минут найдены NU Park. Расчётный план занимает 42 минут вместе с возвращением. Посещение и обратная дорога входят в бюджет. Расстояние пока геометрическое: мы прямо предупреждаем, что переходы, ограды и состояние тротуаров могут изменить реальный путь.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output/evaluation.json</a:t>
            </a:r>
          </a:p>
          <a:p xmlns:a="http://schemas.openxmlformats.org/drawingml/2006/main">
            <a:r>
              <a:t>Оценка пути геометрическая, с запасом на обход и возвратом. Это не пешеходная навигация.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фактическом снимке UI план занимает 44 минуты: здесь выбрана другая публичная точка старта, чем в проверке на 42 минуты. В карточке видны объяснение, идея действия, расчётное время, источник и режим генерации. Сведения POI отделены от предложенного действия. Мобильный интерфейс поддерживает установку PWA. Оболочка доступна без сети, но новый подбор требует backend, а ответы API не кэшируются. Установку предыдущей версии на Android с Chrome и запуск по иконке пользователь подтвердил ранее. Новые функции и работу без сети на физическом телефоне отдельно не проверяли.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Фактический скриншот: output/demo-ui.jpg</a:t>
            </a:r>
          </a:p>
          <a:p xmlns:a="http://schemas.openxmlformats.org/drawingml/2006/main">
            <a:r>
              <a:t>output/demo-mobile.jpg</a:t>
            </a:r>
          </a:p>
          <a:p xmlns:a="http://schemas.openxmlformats.org/drawingml/2006/main">
            <a:r>
              <a:t>Режим показанного сценария: RAG + LLM</a:t>
            </a:r>
          </a:p>
          <a:p xmlns:a="http://schemas.openxmlformats.org/drawingml/2006/main">
            <a:r>
              <a:t>UI: 44 мин; evaluator: 42 мин. Разные публичные старты.</a:t>
            </a:r>
          </a:p>
          <a:p xmlns:a="http://schemas.openxmlformats.org/drawingml/2006/main">
            <a:r>
              <a:t>output/ui-check.json</a:t>
            </a:r>
          </a:p>
          <a:p xmlns:a="http://schemas.openxmlformats.org/drawingml/2006/main">
            <a:r>
              <a:t>Настроенная генерация: llama.cpp b11739 (CPU, loopback) / Qwen3-4B-Instruct-2507 Q4_K_M (Unsloth) / astana-local</a:t>
            </a:r>
          </a:p>
          <a:p xmlns:a="http://schemas.openxmlformats.org/drawingml/2006/main">
            <a:r>
              <a:t>output/live-explanations.json</a:t>
            </a:r>
          </a:p>
          <a:p xmlns:a="http://schemas.openxmlformats.org/drawingml/2006/main">
            <a:r>
              <a:t>Полное проверенное объяснение: Парк соответствует интересу в прогулке на воздухе</a:t>
            </a:r>
          </a:p>
          <a:p xmlns:a="http://schemas.openxmlformats.org/drawingml/2006/main">
            <a:r>
              <a:t>https://developer.mozilla.org/en-US/docs/Web/Progressive_web_apps/Guides/Making_PWAs_installable</a:t>
            </a:r>
          </a:p>
          <a:p xmlns:a="http://schemas.openxmlformats.org/drawingml/2006/main">
            <a:r>
              <a:t>PR #7 c31bc7a and quota fix 90ed954. web/sw.js: shell allowlist, API network-only, no query/non-GET caching. HTTPS resource results: output/https-check.json. Physical installation and launch from icon reported by the user on 2026-10-20, not independently observed.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Теперь у приложения есть настоящая уличная карта Leaflet с подложкой OpenStreetMap. На ней видны места каталога, начало и пронумерованные остановки. Карту можно перемещать и масштабировать, а источник открыть из маркера. Линии соединяют остановки по прямой: это схема плана, а не пешеходная навигация. При недоступности подложки остаются точки и список. Внешний сервис тайлов получает IP и область просмотра.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output/map-desktop.jpg</a:t>
            </a:r>
          </a:p>
          <a:p xmlns:a="http://schemas.openxmlformats.org/drawingml/2006/main">
            <a:r>
              <a:t>data/poi.astana.json</a:t>
            </a:r>
          </a:p>
          <a:p xmlns:a="http://schemas.openxmlformats.org/drawingml/2006/main">
            <a:r>
              <a:t>© OpenStreetMap contributors</a:t>
            </a:r>
          </a:p>
          <a:p xmlns:a="http://schemas.openxmlformats.org/drawingml/2006/main">
            <a:r>
              <a:t>web/map.js</a:t>
            </a:r>
          </a:p>
          <a:p xmlns:a="http://schemas.openxmlformats.org/drawingml/2006/main">
            <a:r>
              <a:t>Прямые отрезки не являются дорожным графом; тайлы требуют сети.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начинается с автоматически собранных публичных POI. BM25 и категории сопоставляют интересы с описаниями, затем планировщик учитывает расстояние, возврат и обязательные ограничения. Модель получает только найденные публичные факты и признаки интересов. После генерации проверяются идентификаторы, структура и известные рискованные утверждения. В записанных основных сценариях LLM принята в 4 из 4 непустых основных сценариев. Локальный fallback использован в 0 случаях. Основные ответы повторно проверены новым guard без генерации; семейный пресет сгенерирован отдельно. Это не новый полный последовательный прогон. Пустая выдача при отсутствии подтверждённой розетки не требует вызова модели. Проверка структуры не гарантирует смысловую достоверность каждой будущей фразы.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app/retrieval.py</a:t>
            </a:r>
          </a:p>
          <a:p xmlns:a="http://schemas.openxmlformats.org/drawingml/2006/main">
            <a:r>
              <a:t>app/generation.py</a:t>
            </a:r>
          </a:p>
          <a:p xmlns:a="http://schemas.openxmlformats.org/drawingml/2006/main">
            <a:r>
              <a:t>app/llm.py</a:t>
            </a:r>
          </a:p>
          <a:p xmlns:a="http://schemas.openxmlformats.org/drawingml/2006/main">
            <a:r>
              <a:t>Actual report: output/evaluation-live.json. 5/5 main scenarios, 131/131 tests. 4/4 eligible scenarios validated, 4 recorded provider calls in main scenarios. Свидетельства получены в разное время: 4 основных ответа повторно проверены новым guard без генерации, семейный пресет сгенерирован отдельно (1 вызов). Принято 5 ответов; всего наблюдалось 6 уникальных вызовов, включая исторический отказ. Это не новый последовательный прогон всех генераций.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поставляемом снимке 1267 реальных OSM POI, собранных 20.10.2026. Для 1010 мест часы не указаны. Мы сохраняем источник, дату, исходный снимок и лицензию. Обновление OSM включается по согласию: срок свежести составляет сутки, а при сетевой ошибке сохраняется последний целый набор. Отдельный живой поиск 2ГИС возвращает одну страницу до десяти карточек по выбранной категории. Лимит — двадцать попыток за скользящие сутки, включая ошибки. Эти карточки не сохраняются и не смешиваются с OSM или RAG.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data/poi.astana.json</a:t>
            </a:r>
          </a:p>
          <a:p xmlns:a="http://schemas.openxmlformats.org/drawingml/2006/main">
            <a:r>
              <a:t>https://www.openstreetmap.org/copyright</a:t>
            </a:r>
          </a:p>
          <a:p xmlns:a="http://schemas.openxmlformats.org/drawingml/2006/main">
            <a:r>
              <a:t>© OpenStreetMap contributors</a:t>
            </a:r>
          </a:p>
          <a:p xmlns:a="http://schemas.openxmlformats.org/drawingml/2006/main">
            <a:r>
              <a:t>ODbL 1.0</a:t>
            </a:r>
          </a:p>
          <a:p xmlns:a="http://schemas.openxmlformats.org/drawingml/2006/main">
            <a:r>
              <a:t>SHA-256 набора: 07dc0a3eb3a9b76b1c8121253cf5c5f1f46d67d991c5eb6b7823d45fccc0aa1e</a:t>
            </a:r>
          </a:p>
          <a:p xmlns:a="http://schemas.openxmlformats.org/drawingml/2006/main">
            <a:r>
              <a:t>app/data_refresh.py</a:t>
            </a:r>
          </a:p>
          <a:p xmlns:a="http://schemas.openxmlformats.org/drawingml/2006/main">
            <a:r>
              <a:t>app/dgis_live.py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Отчёт содержит пять основных сценариев и 131 пройденных автоматических тестов. Проверяются бюджет с возвратом, источники, число рекомендаций и явные ограничения. Тишина не считается доказанной по категории кафе. Розетка требует источника. Детская категория не доказывает безопасность, а ночной запрос не делает неизвестные часы круглосуточными. Дополнительный семейный UI-пресет записан отдельно. Формальный pass и ручное чтение объяснений отвечают на разные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output/evaluation.json</a:t>
            </a:r>
          </a:p>
          <a:p xmlns:a="http://schemas.openxmlformats.org/drawingml/2006/main">
            <a:r>
              <a:t>output/evaluation.json</a:t>
            </a:r>
          </a:p>
          <a:p xmlns:a="http://schemas.openxmlformats.org/drawingml/2006/main">
            <a:r>
              <a:t>Проверки фиксируют поведение прототипа. Они не измеряют удовлетворённость жителей и безопасность городских маршрутов.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не создаёт аккаунт или историю прогулок и не сохраняет запросы и точные координаты в логах или localStorage. Исходный запрос и старт не передаются модели. 2ГИС получает только фиксированную категорию и границы Астаны; на диске остаются времена попыток для лимита. Уличные тайлы раскрывают область просмотра. Временное HTTPS-демо передаёт трафик через Cloudflare к локальному backend. Поэтому локальная модель не означает, что весь сетевой путь ограничен устройством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docs/PRIVACY.md</a:t>
            </a:r>
          </a:p>
          <a:p xmlns:a="http://schemas.openxmlformats.org/drawingml/2006/main">
            <a:r>
              <a:t>app/server.py</a:t>
            </a:r>
          </a:p>
          <a:p xmlns:a="http://schemas.openxmlformats.org/drawingml/2006/main">
            <a:r>
              <a:t>app/llm.py</a:t>
            </a:r>
          </a:p>
          <a:p xmlns:a="http://schemas.openxmlformats.org/drawingml/2006/main">
            <a:r>
              <a:t>web/map.js</a:t>
            </a:r>
          </a:p>
          <a:p xmlns:a="http://schemas.openxmlformats.org/drawingml/2006/main">
            <a:r>
              <a:t>LLM получает признаки интересов и найденные публичные POI: name, category, description, features. Исходный запрос, origin, координаты, расчётные времена, расстояния и opening_hours не передаются. Числа и расписания отображаются отдельно из backend, а не генерируются в свободном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Бизнес-гипотеза — помощник для отелей и туристических стоек, где гостю нужен план на короткое свободное время. Спрос пока не подтверждён. В пилоте измерим долю выбранных планов и полезность объяснений. Следующие шаги — маршрутизация по пешеходным дорогам, проверка свежести часов, оценка с жителями и казахский с английским. Будущие платные позиции потребуют явной маркировки.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docs/CONCEPT.md</a:t>
            </a:r>
          </a:p>
          <a:p xmlns:a="http://schemas.openxmlformats.org/drawingml/2006/main">
            <a:r>
              <a:t>Бизнес-модель и пилот — гипотезы команды. Выручка и спрос не измерялись.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передачи подготовлены исходники, данные с происхождением, сценарии, ограничения и материалы запуска. Прежний снимок сохранён отдельно от расширенной версии. YouTube-публикацию пользователь решил выполнить самостоятельно позже, поэтому ссылка не подменяется вымышленным адресом. Временный сайт зависит от включённого компьютера и туннеля. Проект остаётся прототипом: путь приблизителен, полевой проверки и гарантии безопасности нет. Спасибо, готовы показать фактический сценарий.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https://github.com/ltybcs/astana-walks-ai</a:t>
            </a:r>
          </a:p>
          <a:p xmlns:a="http://schemas.openxmlformats.org/drawingml/2006/main">
            <a:r>
              <a:t>https://entire-burn-cricket-ashley.trycloudflare.com/</a:t>
            </a:r>
          </a:p>
          <a:p xmlns:a="http://schemas.openxmlformats.org/drawingml/2006/main">
            <a:r>
              <a:t>output/https-check.json</a:t>
            </a:r>
          </a:p>
          <a:p xmlns:a="http://schemas.openxmlformats.org/drawingml/2006/main">
            <a:r>
              <a:t>Пользователь выбрал самостоятельную загрузку позже; публикация YouTube не подтверждена.</a:t>
            </a:r>
          </a:p>
          <a:p xmlns:a="http://schemas.openxmlformats.org/drawingml/2006/main">
            <a:r>
              <a:t>Снимок материалов: 2026-10-20T03:12:28+05:00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b496c793840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1776e897a47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4d2a599fd4b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6e420340b41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81a27c97a41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9fde3efcf4f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7D009A-7CFC-4859-93DA-892050DBB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581531-6E38-4E0C-93C2-37330BE132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BFA982-1C6E-4ECA-97FC-DBCAF29430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C24B1A-7CCC-436A-9B88-700C7EBDB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057C59-92FD-4CA7-883E-8484CF1ABE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16BC51-5137-4A82-A793-229D17DE2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A39316-1FD5-40C9-A86F-D1FB1B827C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307B69-57D3-4F8F-BDD7-ACF80251BD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248D3D-C41A-411E-9BC4-9A6507467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5CC414-F49C-4F5A-98D9-B4EB72830F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e38879430b44b8" /><Relationship Type="http://schemas.openxmlformats.org/officeDocument/2006/relationships/slideLayout" Target="/ppt/slideLayouts/slideLayout1.xml" Id="R804b95f7dd6a460b" /><Relationship Type="http://schemas.openxmlformats.org/officeDocument/2006/relationships/slideLayout" Target="/ppt/slideLayouts/slideLayout2.xml" Id="Ra903abb7c165482f" /><Relationship Type="http://schemas.openxmlformats.org/officeDocument/2006/relationships/slideLayout" Target="/ppt/slideLayouts/slideLayout3.xml" Id="R8129a54959ad425c" /><Relationship Type="http://schemas.openxmlformats.org/officeDocument/2006/relationships/slideLayout" Target="/ppt/slideLayouts/slideLayout4.xml" Id="R411e7ba65f0048a4" /><Relationship Type="http://schemas.openxmlformats.org/officeDocument/2006/relationships/slideLayout" Target="/ppt/slideLayouts/slideLayout5.xml" Id="Re4ddd2190577451a" /><Relationship Type="http://schemas.openxmlformats.org/officeDocument/2006/relationships/slideLayout" Target="/ppt/slideLayouts/slideLayout6.xml" Id="Re520e588eac943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4b95f7dd6a460b"/>
    <p:sldLayoutId xmlns:r="http://schemas.openxmlformats.org/officeDocument/2006/relationships" id="2147483650" r:id="Ra903abb7c165482f"/>
    <p:sldLayoutId xmlns:r="http://schemas.openxmlformats.org/officeDocument/2006/relationships" id="2147483651" r:id="R8129a54959ad425c"/>
    <p:sldLayoutId xmlns:r="http://schemas.openxmlformats.org/officeDocument/2006/relationships" id="2147483652" r:id="R411e7ba65f0048a4"/>
    <p:sldLayoutId xmlns:r="http://schemas.openxmlformats.org/officeDocument/2006/relationships" id="2147483653" r:id="Re4ddd2190577451a"/>
    <p:sldLayoutId xmlns:r="http://schemas.openxmlformats.org/officeDocument/2006/relationships" id="2147483654" r:id="Re520e588eac943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75d32c331b44d4" /><Relationship Type="http://schemas.openxmlformats.org/officeDocument/2006/relationships/notesSlide" Target="/ppt/notesSlides/notesSlide1.xml" Id="R6ee0ebe899b643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de24631d34179" /><Relationship Type="http://schemas.openxmlformats.org/officeDocument/2006/relationships/notesSlide" Target="/ppt/notesSlides/notesSlide2.xml" Id="R06d7e414a9ec4e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5a926945c4aa0" /><Relationship Type="http://schemas.openxmlformats.org/officeDocument/2006/relationships/image" Target="/ppt/media/image.jpeg" Id="R0bbbd413c9374a5d" /><Relationship Type="http://schemas.openxmlformats.org/officeDocument/2006/relationships/image" Target="/ppt/media/image2.jpeg" Id="R84510873cd114380" /><Relationship Type="http://schemas.openxmlformats.org/officeDocument/2006/relationships/notesSlide" Target="/ppt/notesSlides/notesSlide3.xml" Id="Rf9feee78055a41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34843d32c4721" /><Relationship Type="http://schemas.openxmlformats.org/officeDocument/2006/relationships/image" Target="/ppt/media/image3.jpeg" Id="Rbf11055cfa94417e" /><Relationship Type="http://schemas.openxmlformats.org/officeDocument/2006/relationships/notesSlide" Target="/ppt/notesSlides/notesSlide4.xml" Id="R83c090711a8b46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bc7faa8994452" /><Relationship Type="http://schemas.openxmlformats.org/officeDocument/2006/relationships/notesSlide" Target="/ppt/notesSlides/notesSlide5.xml" Id="R43067887ddd645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e05ccf4894ae5" /><Relationship Type="http://schemas.openxmlformats.org/officeDocument/2006/relationships/notesSlide" Target="/ppt/notesSlides/notesSlide6.xml" Id="R881107d56c6f43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ae997f55c479a" /><Relationship Type="http://schemas.openxmlformats.org/officeDocument/2006/relationships/notesSlide" Target="/ppt/notesSlides/notesSlide7.xml" Id="Rdf4d518e824740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1f5aeb85ae4198" /><Relationship Type="http://schemas.openxmlformats.org/officeDocument/2006/relationships/notesSlide" Target="/ppt/notesSlides/notesSlide8.xml" Id="R21f09c16200647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4a242bc70466a" /><Relationship Type="http://schemas.openxmlformats.org/officeDocument/2006/relationships/notesSlide" Target="/ppt/notesSlides/notesSlide9.xml" Id="R2a31d90c7fda4e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2bc3ac70140d4" /><Relationship Type="http://schemas.openxmlformats.org/officeDocument/2006/relationships/notesSlide" Target="/ppt/notesSlides/notesSlide10.xml" Id="R50d1e46afebc42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E3DE9-FE3D-445A-BFD7-F027EE4A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16371-3B05-41DC-BC20-B0FE2BEC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Astana Walks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6985D-6765-46CE-BCEE-337381F0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9906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4275" b="0">
                <a:solidFill>
                  <a:srgbClr val="63D3BE"/>
                </a:solidFill>
                <a:latin typeface="Arial"/>
                <a:ea typeface="Arial"/>
                <a:cs typeface="Arial"/>
              </a:rPr>
              <a:t>Помощник для коротких</a:t>
            </a:r>
          </a:p>
          <a:p xmlns:a="http://schemas.openxmlformats.org/drawingml/2006/main">
            <a: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4275" b="0">
                <a:solidFill>
                  <a:srgbClr val="63D3BE"/>
                </a:solidFill>
                <a:latin typeface="Arial"/>
                <a:ea typeface="Arial"/>
                <a:cs typeface="Arial"/>
              </a:rPr>
              <a:t>прогулок в Астане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7C898-C163-4776-902B-04336069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292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Задача №1 НИЦ Smart City</a:t>
            </a:r>
          </a:p>
          <a:p xmlns:a="http://schemas.openxmlformats.org/drawingml/2006/main">
            <a: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Build with AI / GDG Astana</a:t>
            </a:r>
          </a:p>
        </p:txBody>
      </p:sp>
    </p:spTree>
    <p:extLst>
      <p:ext uri="{BB962C8B-B14F-4D97-AF65-F5344CB8AC3E}">
        <p14:creationId xmlns:p14="http://schemas.microsoft.com/office/powerpoint/2010/main" val="1742233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C4EB2-0800-4961-A708-FE4BEBF4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Прогулка рядом с EXPO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BC023-2D7E-4CD5-AC1E-77D3CFA1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CA61D-72CE-407E-B865-20FD472C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04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108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6E5CF-DF49-49E4-BB4A-63358304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7187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минут на прогулку</a:t>
            </a:r>
          </a:p>
          <a:p xmlns:a="http://schemas.openxmlformats.org/drawingml/2006/main">
            <a: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с возвращением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DCB17-5A85-4E4E-9800-243D0042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62125"/>
            <a:ext cx="666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«У меня 45 минут возле Mega, хочу короткую прогулку»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B9D5E-4223-464D-9EA4-E8EB9657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05175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NU 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40906-EF2C-4F89-A98A-76AEC12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19675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42 мин по расчёту</a:t>
            </a:r>
          </a:p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1 место, объяснения и идеи действий</a:t>
            </a:r>
          </a:p>
        </p:txBody>
      </p:sp>
    </p:spTree>
    <p:extLst>
      <p:ext uri="{BB962C8B-B14F-4D97-AF65-F5344CB8AC3E}">
        <p14:creationId xmlns:p14="http://schemas.microsoft.com/office/powerpoint/2010/main" val="752618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2F7A8-90E8-4344-A6EB-00FC4B30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Ответ в интерфейсе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AB58C-72BA-4FE6-B6A7-31390B82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58010-9D4B-417E-A47F-9BD12318D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bd413c9374a5d"/>
          <a:srcRect xmlns:a="http://schemas.openxmlformats.org/drawingml/2006/main" l="32500" t="49000" r="6500" b="1500"/>
          <a:stretch xmlns:a="http://schemas.openxmlformats.org/drawingml/2006/main"/>
        </p:blipFill>
        <p:spPr>
          <a:xfrm xmlns:a="http://schemas.openxmlformats.org/drawingml/2006/main">
            <a:off x="5715000" y="2044387"/>
            <a:ext cx="5791200" cy="3426452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79907-7CEB-415E-A53A-A2674C725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10873cd114380"/>
          <a:stretch xmlns:a="http://schemas.openxmlformats.org/drawingml/2006/main"/>
        </p:blipFill>
        <p:spPr>
          <a:xfrm xmlns:a="http://schemas.openxmlformats.org/drawingml/2006/main">
            <a:off x="742334" y="1619250"/>
            <a:ext cx="2001482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18A71-E005-4119-90EC-059923E4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28800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Из проверочного</a:t>
            </a:r>
          </a:p>
          <a:p xmlns:a="http://schemas.openxmlformats.org/drawingml/2006/main">
            <a: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прогона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962EB-1CFE-497D-9CB1-8DACF6F6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9850"/>
            <a:ext cx="2266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0E5"/>
                </a:solidFill>
                <a:latin typeface="Arial"/>
                <a:ea typeface="Arial"/>
                <a:cs typeface="Arial"/>
              </a:rPr>
              <a:t>«Парк соответствует интересу в прогулке на воздухе»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D079B-4C3A-463D-A48E-FDD8B92F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9112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NU 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1D894-3CC3-487D-848D-35682C28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43575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UI: 44 мин, с возвратом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8E961-516C-4727-9772-FB2E3DEE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UI: 44 мин; проверка: 42 мин — разные публичные точки старта</a:t>
            </a:r>
          </a:p>
        </p:txBody>
      </p:sp>
    </p:spTree>
    <p:extLst>
      <p:ext uri="{BB962C8B-B14F-4D97-AF65-F5344CB8AC3E}">
        <p14:creationId xmlns:p14="http://schemas.microsoft.com/office/powerpoint/2010/main" val="1561823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60300-47ED-4157-A09E-C8B1283E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Настоящая уличная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025F6-0CE7-4C4A-9C2D-44C5A733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0FF51-3D9D-4F58-809C-F60CF35517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1055cfa94417e"/>
          <a:srcRect xmlns:a="http://schemas.openxmlformats.org/drawingml/2006/main" l="32500" t="9800" r="6500" b="55200"/>
          <a:stretch xmlns:a="http://schemas.openxmlformats.org/drawingml/2006/main"/>
        </p:blipFill>
        <p:spPr>
          <a:xfrm xmlns:a="http://schemas.openxmlformats.org/drawingml/2006/main">
            <a:off x="1018722" y="1504950"/>
            <a:ext cx="10154556" cy="424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02387-D252-435C-B062-51AE03FD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Точки — из OSM. Прямые связи между остановками не являются навигацией.</a:t>
            </a:r>
          </a:p>
          <a:p xmlns:a="http://schemas.openxmlformats.org/drawingml/2006/main">
            <a: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Внешний сервис тайлов получает IP и область просмотра.</a:t>
            </a:r>
          </a:p>
        </p:txBody>
      </p:sp>
    </p:spTree>
    <p:extLst>
      <p:ext uri="{BB962C8B-B14F-4D97-AF65-F5344CB8AC3E}">
        <p14:creationId xmlns:p14="http://schemas.microsoft.com/office/powerpoint/2010/main" val="1066490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C4DAC-CDDC-47CB-A367-858941C1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Как работает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51754-C950-4CF2-A807-B371096D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8F1B8-6490-41F9-A7BE-9851875E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E82FB-09F8-44EF-8042-C3690BE2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Данные POI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32D37-12FF-4B54-9E41-9BFA57DB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428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Автоматический сбор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Публичные POI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Источник и дата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757B8-A0A6-4456-8499-4A566B34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CC5AD-CB58-41F8-848E-7BB7DAE8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57475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8AB71-7A5B-4B99-8342-B8DA810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2428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BM25 и категории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Локация и время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Строгие ограничения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93717-F4E0-41D1-8639-8C112107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21EFA-EE9F-4C01-818E-3CB35FBF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57475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Рекомендация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6D6FA-BA36-4522-8B7B-78454514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2428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Найденные места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Краткое объяснение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Идея действия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D4D56-1896-4F8A-9A6C-66C47680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335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B8428-CD47-4A15-A7D0-1F21790F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57475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F67D7-EA71-43A2-A3ED-8A326B74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2350"/>
            <a:ext cx="2428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Только известные ID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Бюджет с возвратом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Честный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A109B-F19E-405A-BB85-AC31D70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D3BE"/>
                </a:solidFill>
                <a:latin typeface="Arial"/>
                <a:ea typeface="Arial"/>
                <a:cs typeface="Arial"/>
              </a:rPr>
              <a:t>Генерация: Qwen3-4B-Instruct-2507 Q4_K_M (Unsloth)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5937B-4C4B-4481-9856-1565709F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В свидетельствах: LLM 4/4 непустых, fallback 0</a:t>
            </a:r>
          </a:p>
        </p:txBody>
      </p:sp>
    </p:spTree>
    <p:extLst>
      <p:ext uri="{BB962C8B-B14F-4D97-AF65-F5344CB8AC3E}">
        <p14:creationId xmlns:p14="http://schemas.microsoft.com/office/powerpoint/2010/main" val="945979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8741A-56F8-49D2-B35A-FBAC1145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Данные и обновление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E1764-1C1E-44D0-B225-E33195DC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D6776-9AA6-492A-80CF-6097D554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96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1267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40C94-A49F-4E38-90A5-457ACA4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24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реальных POI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3726-8DEE-47D7-9BB5-6CFDC834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57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1010 без часов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5F388-0597-4D4B-99D3-B283627E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19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Сбор: 20.10.2026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3E29B-BCCF-419B-9D12-D0BA6CC9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05450"/>
            <a:ext cx="504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© OpenStreetMap contributors</a:t>
            </a:r>
          </a:p>
          <a:p xmlns:a="http://schemas.openxmlformats.org/drawingml/2006/main">
            <a: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ODbL 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3FF9F-D45C-446A-92C6-92955952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Astana POI / OpenStreetMap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07DB8-25B3-4418-A0E0-567D63C9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33725"/>
            <a:ext cx="5238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Снимок OSM с датой и источниками</a:t>
            </a:r>
          </a:p>
          <a:p xmlns:a="http://schemas.openxmlformats.org/drawingml/2006/main">
            <a: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Обновление по согласию, TTL 24 ч</a:t>
            </a:r>
          </a:p>
          <a:p xmlns:a="http://schemas.openxmlformats.org/drawingml/2006/main">
            <a: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При сбое — последний целый набор</a:t>
            </a:r>
          </a:p>
          <a:p xmlns:a="http://schemas.openxmlformats.org/drawingml/2006/main">
            <a:pPr algn="l">
              <a:defRPr sz="18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2ГИС: отдельные живые карточки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7B75D-F5C3-4B5E-B023-8B43F8D7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6730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2ГИС: до 10 карточек за запрос</a:t>
            </a:r>
          </a:p>
          <a:p xmlns:a="http://schemas.openxmlformats.org/drawingml/2006/main">
            <a:pPr algn="l">
              <a:defRPr sz="18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20 попыток / 24 ч, без POI-кэша</a:t>
            </a:r>
          </a:p>
        </p:txBody>
      </p:sp>
    </p:spTree>
    <p:extLst>
      <p:ext uri="{BB962C8B-B14F-4D97-AF65-F5344CB8AC3E}">
        <p14:creationId xmlns:p14="http://schemas.microsoft.com/office/powerpoint/2010/main" val="452861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839ED-DEF6-4078-8AAB-302BB689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Проверка пользовательских сценариев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F94B1-81E8-45BB-88AD-6430F8EE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FAECF-88C4-4791-84FE-30163277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61FD6-699E-4050-94FA-46BDA650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71675"/>
            <a:ext cx="609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131 автоматических тестов пройдено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74990-0DDA-4412-A558-551B3B0E714C}"/>
              </a:ext>
            </a:extLst>
          </p:cNvPr>
          <p:cNvGraphicFramePr/>
          <p:nvPr/>
        </p:nvGraphicFramePr>
        <p:xfrm>
          <a:off xmlns:a="http://schemas.openxmlformats.org/drawingml/2006/main" x="685800" y="3000375"/>
          <a:ext xmlns:a="http://schemas.openxmlformats.org/drawingml/2006/main" cx="10820400" cy="2809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419850"/>
                <a:gridCol w="4400550"/>
              </a:tblGrid>
              <a:tr h="561975"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F4F0E5"/>
                          </a:solidFill>
                          <a:latin typeface="Arial"/>
                          <a:ea typeface="Arial"/>
                          <a:cs typeface="Arial"/>
                        </a:rPr>
                        <a:t>Прогулка у EXPO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0A2D2E"/>
                      </a:solidFill>
                      <a:prstDash val="solid"/>
                    </a:lnL>
                    <a:lnR w="0">
                      <a:solidFill>
                        <a:srgbClr val="0A2D2E"/>
                      </a:solidFill>
                      <a:prstDash val="solid"/>
                    </a:lnR>
                    <a:lnT w="0">
                      <a:solidFill>
                        <a:srgbClr val="0A2D2E"/>
                      </a:solidFill>
                      <a:prstDash val="solid"/>
                    </a:lnT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AEC8C0"/>
                          </a:solidFill>
                          <a:latin typeface="Arial"/>
                          <a:ea typeface="Arial"/>
                          <a:cs typeface="Arial"/>
                        </a:rPr>
                        <a:t>1 место, 42 мин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0A2D2E"/>
                      </a:solidFill>
                      <a:prstDash val="solid"/>
                    </a:lnR>
                    <a:lnT w="0">
                      <a:solidFill>
                        <a:srgbClr val="0A2D2E"/>
                      </a:solidFill>
                      <a:prstDash val="solid"/>
                    </a:lnT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</a:tr>
              <a:tr h="561975"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F4F0E5"/>
                          </a:solidFill>
                          <a:latin typeface="Arial"/>
                          <a:ea typeface="Arial"/>
                          <a:cs typeface="Arial"/>
                        </a:rPr>
                        <a:t>Кофе, тишина, розетка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0A2D2E"/>
                      </a:solidFill>
                      <a:prstDash val="solid"/>
                    </a:lnL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AEC8C0"/>
                          </a:solidFill>
                          <a:latin typeface="Arial"/>
                          <a:ea typeface="Arial"/>
                          <a:cs typeface="Arial"/>
                        </a:rPr>
                        <a:t>Нет подтверждённых мест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</a:tr>
              <a:tr h="561975"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F4F0E5"/>
                          </a:solidFill>
                          <a:latin typeface="Arial"/>
                          <a:ea typeface="Arial"/>
                          <a:cs typeface="Arial"/>
                        </a:rPr>
                        <a:t>Прогулка с ребёнком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0A2D2E"/>
                      </a:solidFill>
                      <a:prstDash val="solid"/>
                    </a:lnL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AEC8C0"/>
                          </a:solidFill>
                          <a:latin typeface="Arial"/>
                          <a:ea typeface="Arial"/>
                          <a:cs typeface="Arial"/>
                        </a:rPr>
                        <a:t>1 место, 32 мин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</a:tr>
              <a:tr h="561975"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F4F0E5"/>
                          </a:solidFill>
                          <a:latin typeface="Arial"/>
                          <a:ea typeface="Arial"/>
                          <a:cs typeface="Arial"/>
                        </a:rPr>
                        <a:t>Турист, два часа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0A2D2E"/>
                      </a:solidFill>
                      <a:prstDash val="solid"/>
                    </a:lnL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AEC8C0"/>
                          </a:solidFill>
                          <a:latin typeface="Arial"/>
                          <a:ea typeface="Arial"/>
                          <a:cs typeface="Arial"/>
                        </a:rPr>
                        <a:t>3 места, 111 мин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</a:tr>
              <a:tr h="561975"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F4F0E5"/>
                          </a:solidFill>
                          <a:latin typeface="Arial"/>
                          <a:ea typeface="Arial"/>
                          <a:cs typeface="Arial"/>
                        </a:rPr>
                        <a:t>Ночная активность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0A2D2E"/>
                      </a:solidFill>
                      <a:prstDash val="solid"/>
                    </a:lnL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AEC8C0"/>
                          </a:solidFill>
                          <a:latin typeface="Arial"/>
                          <a:ea typeface="Arial"/>
                          <a:cs typeface="Arial"/>
                        </a:rPr>
                        <a:t>1 место, 46 мин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42BFA-12FB-4F44-A7FB-63F8A123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Формальные ограничения плана; пустой ответ допустим.</a:t>
            </a:r>
          </a:p>
          <a:p xmlns:a="http://schemas.openxmlformats.org/drawingml/2006/main">
            <a: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Качество текста проверяем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291755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4C068-FF30-4213-92D0-3DF2FB87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Приватность и доверие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39D54-673E-4F4A-A2B8-0EC2EA7E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BD966-04B1-436A-8D55-0036C746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Локация для одного ответа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05CE6-085E-409F-BF39-82E2AFC8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Запросы и координаты не сохраняются приложением</a:t>
            </a:r>
          </a:p>
          <a:p xmlns:a="http://schemas.openxmlformats.org/drawingml/2006/main">
            <a: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Внешние тайлы получают IP и область просмотра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C4F20-8ECA-4088-A097-F3266697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POI-факт отдельно от идеи действия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37E92-4E25-42A2-94F1-FDB79C48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Нет обещания «открыто сейчас», тишины или розетки</a:t>
            </a:r>
          </a:p>
          <a:p xmlns:a="http://schemas.openxmlformats.org/drawingml/2006/main">
            <a: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без подтверждения в источнике</a:t>
            </a:r>
          </a:p>
        </p:txBody>
      </p:sp>
    </p:spTree>
    <p:extLst>
      <p:ext uri="{BB962C8B-B14F-4D97-AF65-F5344CB8AC3E}">
        <p14:creationId xmlns:p14="http://schemas.microsoft.com/office/powerpoint/2010/main" val="1863077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7912D-0D02-4EF1-AB61-5BDB2851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Бизнес-гипотеза и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A4679-8967-4B24-AA0D-B6D96985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BD0B9-6AC9-44D7-A954-8A1EE39E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09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Пилот для отелей</a:t>
            </a:r>
          </a:p>
          <a:p xmlns:a="http://schemas.openxmlformats.org/drawingml/2006/main">
            <a: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и туристических стоек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3F4B1-9D19-4607-B402-FC028583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5905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В пилоте: доля выбранных планов</a:t>
            </a:r>
          </a:p>
          <a:p xmlns:a="http://schemas.openxmlformats.org/drawingml/2006/main">
            <a: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и полезность объяснений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13319-15DD-4F97-B0D7-43974E41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669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Следующие шаги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710A1-33A2-432D-B6BD-D557474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52750"/>
            <a:ext cx="38100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0E5"/>
                </a:solidFill>
                <a:latin typeface="Arial"/>
                <a:ea typeface="Arial"/>
                <a:cs typeface="Arial"/>
              </a:rPr>
              <a:t>Пешеходные маршруты</a:t>
            </a:r>
          </a:p>
          <a:p xmlns:a="http://schemas.openxmlformats.org/drawingml/2006/main">
            <a: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0E5"/>
                </a:solidFill>
                <a:latin typeface="Arial"/>
                <a:ea typeface="Arial"/>
                <a:cs typeface="Arial"/>
              </a:rPr>
              <a:t>Проверка часов и свежести</a:t>
            </a:r>
          </a:p>
          <a:p xmlns:a="http://schemas.openxmlformats.org/drawingml/2006/main">
            <a: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0E5"/>
                </a:solidFill>
                <a:latin typeface="Arial"/>
                <a:ea typeface="Arial"/>
                <a:cs typeface="Arial"/>
              </a:rPr>
              <a:t>Оценка с жителями</a:t>
            </a:r>
          </a:p>
          <a:p xmlns:a="http://schemas.openxmlformats.org/drawingml/2006/main">
            <a: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0E5"/>
                </a:solidFill>
                <a:latin typeface="Arial"/>
                <a:ea typeface="Arial"/>
                <a:cs typeface="Arial"/>
              </a:rPr>
              <a:t>Казахский и английский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6EC28-555B-468B-A16B-C69678E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Коммерческая модель и спрос пока не проверены</a:t>
            </a:r>
          </a:p>
        </p:txBody>
      </p:sp>
    </p:spTree>
    <p:extLst>
      <p:ext uri="{BB962C8B-B14F-4D97-AF65-F5344CB8AC3E}">
        <p14:creationId xmlns:p14="http://schemas.microsoft.com/office/powerpoint/2010/main" val="1701909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9308A-ABFC-49E7-927B-B3CBBD19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Материалы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BD48A-9323-44F6-B508-D3D05CF5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9A5AD-6F02-4855-B4A4-A62A00EA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57275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Карта, мобильный прототип и PWA</a:t>
            </a:r>
          </a:p>
          <a:p xmlns:a="http://schemas.openxmlformats.org/drawingml/2006/main">
            <a: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Автосбор и снимки данных</a:t>
            </a:r>
          </a:p>
          <a:p xmlns:a="http://schemas.openxmlformats.org/drawingml/2006/main">
            <a: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Сценарии, презентация и инструкции</a:t>
            </a:r>
          </a:p>
          <a:p xmlns:a="http://schemas.openxmlformats.org/drawingml/2006/main">
            <a:pPr algn="l">
              <a:defRPr sz="29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Видео: пользователь загрузит позже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079FA-1293-4C55-A14C-5816E4AD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57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Ограничения: приблизительный путь, неполные POI,</a:t>
            </a:r>
          </a:p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нет текущих событий и проверки безопасности</a:t>
            </a:r>
          </a:p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Офлайн: оболочка PWA. Подбор требует сервера</a:t>
            </a:r>
          </a:p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Демо зависит от включённых ПК и туннеля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703DE-DBA1-4FAB-8C66-19F193C6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Временно: entire-burn-cricket-ashley.trycloudflare.com</a:t>
            </a:r>
          </a:p>
        </p:txBody>
      </p:sp>
    </p:spTree>
    <p:extLst>
      <p:ext uri="{BB962C8B-B14F-4D97-AF65-F5344CB8AC3E}">
        <p14:creationId xmlns:p14="http://schemas.microsoft.com/office/powerpoint/2010/main" val="1300593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2026-10-19T22:12:33.6630000Z</dcterms:created>
  <dcterms:modified xsi:type="dcterms:W3CDTF">2026-10-19T22:12:33.6630000Z</dcterms:modified>
</coreProperties>
</file>