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5689c106c04cab" /><Relationship Type="http://schemas.openxmlformats.org/officeDocument/2006/relationships/extended-properties" Target="/docProps/app.xml" Id="R51e5c72e56024ef4" /><Relationship Type="http://schemas.openxmlformats.org/officeDocument/2006/relationships/officeDocument" Target="/ppt/presentation.xml" Id="R9f245abd85d340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342752655744fe"/>
  </p:sldMasterIdLst>
  <p:notesMasterIdLst>
    <p:notesMasterId xmlns:r="http://schemas.openxmlformats.org/officeDocument/2006/relationships" r:id="Rbe03e6ed87e94075"/>
  </p:notesMasterIdLst>
  <p:sldIdLst>
    <p:sldId xmlns:r="http://schemas.openxmlformats.org/officeDocument/2006/relationships" id="256" r:id="R09322367f8d94ac9"/>
    <p:sldId xmlns:r="http://schemas.openxmlformats.org/officeDocument/2006/relationships" id="257" r:id="R6add5f26c3bf4918"/>
    <p:sldId xmlns:r="http://schemas.openxmlformats.org/officeDocument/2006/relationships" id="258" r:id="Rb7ecbee6d4c44845"/>
    <p:sldId xmlns:r="http://schemas.openxmlformats.org/officeDocument/2006/relationships" id="259" r:id="Re9db238ec91c47bd"/>
    <p:sldId xmlns:r="http://schemas.openxmlformats.org/officeDocument/2006/relationships" id="260" r:id="R4cef07ba2a6b46df"/>
    <p:sldId xmlns:r="http://schemas.openxmlformats.org/officeDocument/2006/relationships" id="261" r:id="R878eecf58afe4d6b"/>
    <p:sldId xmlns:r="http://schemas.openxmlformats.org/officeDocument/2006/relationships" id="262" r:id="Rb516eef9aeea4acc"/>
    <p:sldId xmlns:r="http://schemas.openxmlformats.org/officeDocument/2006/relationships" id="263" r:id="R119791cabf234d3c"/>
    <p:sldId xmlns:r="http://schemas.openxmlformats.org/officeDocument/2006/relationships" id="264" r:id="R3f557ef193824d1e"/>
    <p:sldId xmlns:r="http://schemas.openxmlformats.org/officeDocument/2006/relationships" id="265" r:id="Rb3d8653120e44b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19a39fef14e45de" /><Relationship Type="http://schemas.openxmlformats.org/officeDocument/2006/relationships/slideMaster" Target="/ppt/slideMasters/slideMaster1.xml" Id="Ra9342752655744fe" /><Relationship Type="http://schemas.openxmlformats.org/officeDocument/2006/relationships/notesMaster" Target="/ppt/notesMasters/notesMaster1.xml" Id="Rbe03e6ed87e94075" /><Relationship Type="http://schemas.openxmlformats.org/officeDocument/2006/relationships/presProps" Target="/ppt/presProps.xml" Id="R2016134541414b84" /><Relationship Type="http://schemas.openxmlformats.org/officeDocument/2006/relationships/tableStyles" Target="/ppt/tableStyles.xml" Id="Rbd57b6e2254c40b0" /><Relationship Type="http://schemas.openxmlformats.org/officeDocument/2006/relationships/slide" Target="/ppt/slides/slide1.xml" Id="R09322367f8d94ac9" /><Relationship Type="http://schemas.openxmlformats.org/officeDocument/2006/relationships/slide" Target="/ppt/slides/slide2.xml" Id="R6add5f26c3bf4918" /><Relationship Type="http://schemas.openxmlformats.org/officeDocument/2006/relationships/slide" Target="/ppt/slides/slide3.xml" Id="Rb7ecbee6d4c44845" /><Relationship Type="http://schemas.openxmlformats.org/officeDocument/2006/relationships/slide" Target="/ppt/slides/slide4.xml" Id="Re9db238ec91c47bd" /><Relationship Type="http://schemas.openxmlformats.org/officeDocument/2006/relationships/slide" Target="/ppt/slides/slide5.xml" Id="R4cef07ba2a6b46df" /><Relationship Type="http://schemas.openxmlformats.org/officeDocument/2006/relationships/slide" Target="/ppt/slides/slide6.xml" Id="R878eecf58afe4d6b" /><Relationship Type="http://schemas.openxmlformats.org/officeDocument/2006/relationships/slide" Target="/ppt/slides/slide7.xml" Id="Rb516eef9aeea4acc" /><Relationship Type="http://schemas.openxmlformats.org/officeDocument/2006/relationships/slide" Target="/ppt/slides/slide8.xml" Id="R119791cabf234d3c" /><Relationship Type="http://schemas.openxmlformats.org/officeDocument/2006/relationships/slide" Target="/ppt/slides/slide9.xml" Id="R3f557ef193824d1e" /><Relationship Type="http://schemas.openxmlformats.org/officeDocument/2006/relationships/slide" Target="/ppt/slides/slide10.xml" Id="Rb3d8653120e44b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055eb7689b42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b794d7606f4931" /><Relationship Type="http://schemas.openxmlformats.org/officeDocument/2006/relationships/notesMaster" Target="/ppt/notesMasters/notesMaster1.xml" Id="R6b8a68767d344b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6ef5b75a3046a1" /><Relationship Type="http://schemas.openxmlformats.org/officeDocument/2006/relationships/notesMaster" Target="/ppt/notesMasters/notesMaster1.xml" Id="R467d1867902f40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fce48886ee4351" /><Relationship Type="http://schemas.openxmlformats.org/officeDocument/2006/relationships/notesMaster" Target="/ppt/notesMasters/notesMaster1.xml" Id="Re2329ac4cf4849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d3fba5d5724977" /><Relationship Type="http://schemas.openxmlformats.org/officeDocument/2006/relationships/notesMaster" Target="/ppt/notesMasters/notesMaster1.xml" Id="Rdb49bfdebc2a46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10a58ed89de455b" /><Relationship Type="http://schemas.openxmlformats.org/officeDocument/2006/relationships/notesMaster" Target="/ppt/notesMasters/notesMaster1.xml" Id="Ra0ba7c35f1534c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0ddb270c184a94" /><Relationship Type="http://schemas.openxmlformats.org/officeDocument/2006/relationships/notesMaster" Target="/ppt/notesMasters/notesMaster1.xml" Id="R5c74cfbaafd3453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97615028d94cf2" /><Relationship Type="http://schemas.openxmlformats.org/officeDocument/2006/relationships/notesMaster" Target="/ppt/notesMasters/notesMaster1.xml" Id="R56d021eca9fd487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7be79852bdc41c3" /><Relationship Type="http://schemas.openxmlformats.org/officeDocument/2006/relationships/notesMaster" Target="/ppt/notesMasters/notesMaster1.xml" Id="Ra65a8c1bab344ff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c14d59639b45c3" /><Relationship Type="http://schemas.openxmlformats.org/officeDocument/2006/relationships/notesMaster" Target="/ppt/notesMasters/notesMaster1.xml" Id="Ra96fd681518147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676449e07f4758" /><Relationship Type="http://schemas.openxmlformats.org/officeDocument/2006/relationships/notesMaster" Target="/ppt/notesMasters/notesMaster1.xml" Id="R52d1b2e5563243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Представьте, что вы оказались в незнакомой части Астаны и у вас появилось немного свободного времени. Хочется куда-нибудь сходить, но сначала нужно понять, что находится рядом, сколько займёт дорога и успеете ли вы вернуться. Astana Walks помогает превратить такое желание в понятный план. Вы описываете ситуацию обычными словами, а помощник предлагает места, объясняет выбор и показывает маршрут. Сегодня мы покажем, как это работает на практике и как система обращается с неизвестными данными.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Возьмём простой случай: у меня сорок пять минут рядом с MEGA, и я хочу короткую прогулку. Обычный поиск показывает много мест, но оставляет человеку всю работу по сравнению. Нужно отдельно посмотреть расстояние, понять, подходит ли место под интересы, и не забыть обратную дорогу. Самое близкое место не всегда самое подходящее. Наша задача — сократить этот путь от вопроса до решения. Поэтому результатом становится не длинный каталог, а небольшой план, который можно оценить и сразу открыть на карте.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Пользователь видит одну форму. Например: «Я у Байтерека, хочу поиграть в компьютерном клубе на пару часов». Из сообщения система выделяет место старта, основную цель и время. Если время не указано, она предлагает варианты на час, два и четыре часа. Когда старт нельзя определить по тексту, браузер может запросить разрешение на геолокацию. Геолокация помогает начать подбор именно рядом с человеком. Старт остаётся видимым в плане, чтобы его можно было проверить перед прогулкой.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После поиска пользователь получает остановку или короткую последовательность мест и одну карту. В плане видны время ходьбы, время на месте и возвращение к старту. Для каждого места можно увидеть, почему оно подходит. Дополнительное объяснение и ссылки на источники находятся рядом и открываются одним действием. Карта помогает представить прогулку целиком, а ссылка позволяет перейти к навигации. При этом оценка на карте может немного отличаться от расчёта отдельных переходов: это ориентир для решения, а не обещание точности до минуты.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 одной формой работают три источника. OpenStreetMap помогает с городскими местами и их расположением. Google Maps предоставляет сведения и пешеходные переходы. Два-ГИС дополняет поиск карточками заведений и их рубриками. Мы сначала собираем подходящие факты, проверяем тип места, ограничения и время пути, а затем передаём найденное локальной модели Qwen для объяснения. Такой подход часто называют RAG: ответ опирается на результаты поиска. Модель не должна придумывать заведение ради красивой рекомендации. Пользователь может раскрыть пояснение и проверить ссылки, на которых основан ответ.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Посмотрим, как устроен бюджет на два часа. В этом примере дорога в клуб и обратно занимает восемнадцать минут. Девяносто семь минут остаётся на предлагаемое посещение, ещё пять — запас. Вместе получается сто двадцать минут. Обратная дорога уже входит в расчёт, поэтому её не нужно мысленно добавлять. Важное различие: время посещения предлагает приложение. Это не подтверждение свободного компьютера, доступного сеанса или тарифа. Перед выходом человек может проверить условия у заведения. А если дорога не подтверждена или план не помещается в бюджет, помощник не называет его готовой рекомендацией.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Представим запрос: «Хочу тихое кафе с розеткой». Одного слова «кафе» в карточке недостаточно, чтобы обещать розетку или тишину. Если важное свойство неизвестно, система должна сказать об этом, а не дополнить описание догадкой. Мы разделяем факт об объекте и предлагаемое действие: время для кофе, игры или прогулки — это идея для человека, а не обещание условий заведения. Локация нужна для текущего подбора, геолокация браузера запрашивается с разрешения, а исходное сообщение не записывается в историю. Сведения о передаче данных внешним сервисам доступны в условиях использования.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Один и тот же путь подходит для разных повседневных ситуаций. Это короткая прогулка у торгового центра, пауза на кофе, время с ребёнком или свободный промежуток во время поездки. Меняются интересы и ограничения, но логика остаётся понятной: определить старт, найти подходящий тип места, проверить дорогу и оставить время на возвращение. Для семейного запроса площадка и музей могут быть альтернативами. При этом само слово «музей» не доказывает наличие интерактивной выставки, а расположение рядом с аэропортом не означает, что в прогулку включены трансфер и регистрация. Такие условия нужно учитывать отдельно.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Сегодня прототип работает с поддерживаемыми категориями досуга и набором языковых форм. Это полезное ограничение для предсказуемого поведения, но не универсальное понимание любого желания. Городские данные также неполны: часть мест, часов и условий может отсутствовать или измениться. Поиск и карта требуют интернета. Следующий шаг — научиться извлекать более свободные намерения в проверяемую структуру, улучшать покрытие и свежесть данных и оценивать полезность планов с жителями. При этом сам маршрут не подтверждает безопасность территории, доступность входа или возможность посещения в конкретный момент. Решение остаётся за человеком.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Предлагаем попробовать помощника с собственной городской ситуацией. Напишите, где вы находитесь, сколько у вас времени и чего хочется: прогуляться, выпить кофе или провести время в конкретном месте. Посмотрите не только на сам выбор, но и на время возвращения, объяснение и источники. Сравните готовые варианты по времени и выберите тот, который больше подходит вашему настроению. Для места можно раскрыть объяснение и понять, как оно связано с пожеланиями. На экране — ссылка на демо и открытый репозиторий проекта. Наша цель — сделать небольшой городской выбор проще и понятнее, сохранив у человека возможность проверить рекомендацию.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8e30034927467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a2e5e28a73484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58909453a945e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b993add54d47d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420caf0b71483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0b42e8d8d249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E6DF03-05E1-4B09-80B5-A58BF8C138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35F171D-EA87-4421-BE43-6FACA48793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A8AB577-02E6-4BC2-A7EB-36D2355472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E3797D-BF53-4877-9A9E-716A19E90C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E144905-AB66-43E6-AEF8-C4200FC48F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1471E76-8550-4ACA-BEDD-60AC1D959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B0D8795-2C1B-41F2-8760-5A16933829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DA05E44-84A6-469A-B292-EBB845958E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CF3F68-4347-43ED-A6E0-E009643D9F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AAB80BD-167B-4E45-9731-EC7C228ACA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c6f352ce65475c" /><Relationship Type="http://schemas.openxmlformats.org/officeDocument/2006/relationships/slideLayout" Target="/ppt/slideLayouts/slideLayout1.xml" Id="Rea68434be3ac433d" /><Relationship Type="http://schemas.openxmlformats.org/officeDocument/2006/relationships/slideLayout" Target="/ppt/slideLayouts/slideLayout2.xml" Id="R7ed1d803b10b4df0" /><Relationship Type="http://schemas.openxmlformats.org/officeDocument/2006/relationships/slideLayout" Target="/ppt/slideLayouts/slideLayout3.xml" Id="Rcf34659a87c8413c" /><Relationship Type="http://schemas.openxmlformats.org/officeDocument/2006/relationships/slideLayout" Target="/ppt/slideLayouts/slideLayout4.xml" Id="R47401779ca1e408c" /><Relationship Type="http://schemas.openxmlformats.org/officeDocument/2006/relationships/slideLayout" Target="/ppt/slideLayouts/slideLayout5.xml" Id="R3d274465e2ae4b06" /><Relationship Type="http://schemas.openxmlformats.org/officeDocument/2006/relationships/slideLayout" Target="/ppt/slideLayouts/slideLayout6.xml" Id="Rc22f78c255d641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68434be3ac433d"/>
    <p:sldLayoutId xmlns:r="http://schemas.openxmlformats.org/officeDocument/2006/relationships" id="2147483650" r:id="R7ed1d803b10b4df0"/>
    <p:sldLayoutId xmlns:r="http://schemas.openxmlformats.org/officeDocument/2006/relationships" id="2147483651" r:id="Rcf34659a87c8413c"/>
    <p:sldLayoutId xmlns:r="http://schemas.openxmlformats.org/officeDocument/2006/relationships" id="2147483652" r:id="R47401779ca1e408c"/>
    <p:sldLayoutId xmlns:r="http://schemas.openxmlformats.org/officeDocument/2006/relationships" id="2147483653" r:id="R3d274465e2ae4b06"/>
    <p:sldLayoutId xmlns:r="http://schemas.openxmlformats.org/officeDocument/2006/relationships" id="2147483654" r:id="Rc22f78c255d641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da131836e34385" /><Relationship Type="http://schemas.openxmlformats.org/officeDocument/2006/relationships/notesSlide" Target="/ppt/notesSlides/notesSlide1.xml" Id="R785be045afb643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5ea30fe62b4c79" /><Relationship Type="http://schemas.openxmlformats.org/officeDocument/2006/relationships/notesSlide" Target="/ppt/notesSlides/notesSlide2.xml" Id="Ra9e28cf7852e43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350115e15e44f7" /><Relationship Type="http://schemas.openxmlformats.org/officeDocument/2006/relationships/image" Target="/ppt/media/image.jpeg" Id="R3f8c5c5671bd47b0" /><Relationship Type="http://schemas.openxmlformats.org/officeDocument/2006/relationships/notesSlide" Target="/ppt/notesSlides/notesSlide3.xml" Id="R09c64ad046df45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75682fb00b47ff" /><Relationship Type="http://schemas.openxmlformats.org/officeDocument/2006/relationships/image" Target="/ppt/media/image2.jpeg" Id="R744c70f8044d4b64" /><Relationship Type="http://schemas.openxmlformats.org/officeDocument/2006/relationships/notesSlide" Target="/ppt/notesSlides/notesSlide4.xml" Id="R0c23039ab8f344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4ba880d96b42b3" /><Relationship Type="http://schemas.openxmlformats.org/officeDocument/2006/relationships/notesSlide" Target="/ppt/notesSlides/notesSlide5.xml" Id="Rb56e48b4363041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effe9cd23e4c77" /><Relationship Type="http://schemas.openxmlformats.org/officeDocument/2006/relationships/notesSlide" Target="/ppt/notesSlides/notesSlide6.xml" Id="Rc842207b2dc748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d61c17745a46a3" /><Relationship Type="http://schemas.openxmlformats.org/officeDocument/2006/relationships/notesSlide" Target="/ppt/notesSlides/notesSlide7.xml" Id="R38b5d077a10847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bad9b31f404375" /><Relationship Type="http://schemas.openxmlformats.org/officeDocument/2006/relationships/notesSlide" Target="/ppt/notesSlides/notesSlide8.xml" Id="R6df55fe505024d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6fb2bfcee74a3f" /><Relationship Type="http://schemas.openxmlformats.org/officeDocument/2006/relationships/notesSlide" Target="/ppt/notesSlides/notesSlide9.xml" Id="Ra008210d259b444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09ce21f7e64871" /><Relationship Type="http://schemas.openxmlformats.org/officeDocument/2006/relationships/notesSlide" Target="/ppt/notesSlides/notesSlide10.xml" Id="Rcb10aff2fa034ba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2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9603A4-A568-444B-9A2B-F529E89F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6EEE81-C9B5-4454-BB75-3AC170C2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23925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6600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Astana Walks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850877-E53A-4652-A351-61B911EF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10572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4275" b="0">
                <a:solidFill>
                  <a:srgbClr val="63D3BE"/>
                </a:solidFill>
                <a:latin typeface="Arial"/>
                <a:ea typeface="Arial"/>
                <a:cs typeface="Arial"/>
              </a:rPr>
              <a:t>Город рядом.</a:t>
            </a:r>
          </a:p>
          <a:p xmlns:a="http://schemas.openxmlformats.org/drawingml/2006/main">
            <a:pPr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4275" b="0">
                <a:solidFill>
                  <a:srgbClr val="63D3BE"/>
                </a:solidFill>
                <a:latin typeface="Arial"/>
                <a:ea typeface="Arial"/>
                <a:cs typeface="Arial"/>
              </a:rPr>
              <a:t>Прогулка под ваше время.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2848D1-5537-451D-9B20-8A2A7D29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9700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Помощник для прогулок по Астане</a:t>
            </a:r>
          </a:p>
          <a:p xmlns:a="http://schemas.openxmlformats.org/drawingml/2006/main">
            <a:pPr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Задача №1 НИЦ Smart City · Build with AI / GDG Astana</a:t>
            </a:r>
          </a:p>
        </p:txBody>
      </p:sp>
    </p:spTree>
    <p:extLst>
      <p:ext uri="{BB962C8B-B14F-4D97-AF65-F5344CB8AC3E}">
        <p14:creationId xmlns:p14="http://schemas.microsoft.com/office/powerpoint/2010/main" val="7865348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CC621B-9EAA-4464-B70C-56BCDE8B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Есть 45 минут. Куда пойти?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820417-2CED-42BB-A97E-0ABE6031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E11BB3-1E18-40F5-98EB-CAD7B6D2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39052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3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>
              <a:defRPr sz="123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>
              <a:defRPr sz="123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>
              <a:defRPr sz="123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>
              <a:defRPr sz="123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>
              <a:defRPr sz="123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>
              <a:defRPr sz="123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>
              <a:defRPr sz="123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>
              <a:defRPr sz="123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>
              <a:defRPr sz="123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3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1230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D1194-FFD1-4760-A2DC-356487DD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676650"/>
            <a:ext cx="4095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6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>
              <a:defRPr sz="26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>
              <a:defRPr sz="26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>
              <a:defRPr sz="26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>
              <a:defRPr sz="26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>
              <a:defRPr sz="26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>
              <a:defRPr sz="26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>
              <a:defRPr sz="26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>
              <a:defRPr sz="26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>
              <a:defRPr sz="26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минут рядом с MEGA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F8B353-2DA9-4F1D-865F-EEB5617E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1943100"/>
            <a:ext cx="5953125" cy="2257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8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Что находится поблизости?</a:t>
            </a:r>
          </a:p>
          <a:p xmlns:a="http://schemas.openxmlformats.org/drawingml/2006/main">
            <a:pPr>
              <a:defRPr sz="28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Что подходит именно мне?</a:t>
            </a:r>
          </a:p>
          <a:p xmlns:a="http://schemas.openxmlformats.org/drawingml/2006/main">
            <a:pPr>
              <a:defRPr sz="28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Хватит ли времени вернуться?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2C85A8-59F8-4D39-9425-514E9A31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791075"/>
            <a:ext cx="5953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4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>
              <a:defRPr sz="24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>
              <a:defRPr sz="24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>
              <a:defRPr sz="24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>
              <a:defRPr sz="24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>
              <a:defRPr sz="24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>
              <a:defRPr sz="24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>
              <a:defRPr sz="24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>
              <a:defRPr sz="24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>
              <a:defRPr sz="24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Один план вместо поиска</a:t>
            </a:r>
          </a:p>
          <a:p xmlns:a="http://schemas.openxmlformats.org/drawingml/2006/main">
            <a:pPr>
              <a:defRPr sz="24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по нескольким сервисам</a:t>
            </a:r>
          </a:p>
        </p:txBody>
      </p:sp>
    </p:spTree>
    <p:extLst>
      <p:ext uri="{BB962C8B-B14F-4D97-AF65-F5344CB8AC3E}">
        <p14:creationId xmlns:p14="http://schemas.microsoft.com/office/powerpoint/2010/main" val="7198044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2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629307-8084-42D3-B7E5-F6390623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Просто расскажите, чего хочется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DD7791-E05C-49B0-B4D4-721E4084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1636A-F0D4-4D81-8E84-AD1CB8E98D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8c5c5671bd47b0"/>
          <a:stretch xmlns:a="http://schemas.openxmlformats.org/drawingml/2006/main"/>
        </p:blipFill>
        <p:spPr>
          <a:xfrm xmlns:a="http://schemas.openxmlformats.org/drawingml/2006/main">
            <a:off x="2059882" y="1428750"/>
            <a:ext cx="8072237" cy="45434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8721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2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F2F263-8468-42B7-B498-F51B37128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Маршрут и возвращение — на одной карте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F35AC-9123-4DD5-9398-7A1F79F0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59C93D-7837-44B5-9361-3706B2B2F7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c70f8044d4b64"/>
          <a:stretch xmlns:a="http://schemas.openxmlformats.org/drawingml/2006/main"/>
        </p:blipFill>
        <p:spPr>
          <a:xfrm xmlns:a="http://schemas.openxmlformats.org/drawingml/2006/main">
            <a:off x="2059882" y="1428750"/>
            <a:ext cx="8072237" cy="45434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2382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2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5623EA-E937-4445-8258-1D889FBE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ИИ объясняет то, что найдено в источниках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81928B-803D-4225-A9AD-7D2DA439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E056B8-E0CD-4205-8E26-A6C13D711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0225"/>
            <a:ext cx="3381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OpenStreetMap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7878D1-4FDB-4E20-8913-FD96891E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Городские места</a:t>
            </a:r>
          </a:p>
          <a:p xmlns:a="http://schemas.openxmlformats.org/drawingml/2006/main">
            <a: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и их расположение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878C67-751B-4B84-853D-6F01F7AC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800225"/>
            <a:ext cx="3381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Google Maps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300E34-60F2-4E45-B280-3613614C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62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Сведения о местах</a:t>
            </a:r>
          </a:p>
          <a:p xmlns:a="http://schemas.openxmlformats.org/drawingml/2006/main">
            <a: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и пешие переходы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E11C18-687C-460A-9345-64C6D458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00225"/>
            <a:ext cx="3381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2ГИС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CD15C-E0C8-49F4-B6B6-89770F55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62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Карточки заведений</a:t>
            </a:r>
          </a:p>
          <a:p xmlns:a="http://schemas.openxmlformats.org/drawingml/2006/main">
            <a: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и подтверждённые типы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DAA2D-7EEF-4A65-8ABE-661F660C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43425"/>
            <a:ext cx="10820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77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277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277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277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277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277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277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277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277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277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Найти → проверить → составить план → объяснить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BA630-CD5F-40E5-B7F4-6F352DF7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Локальная Qwen формулирует ответ по найденным фактам</a:t>
            </a:r>
          </a:p>
        </p:txBody>
      </p:sp>
    </p:spTree>
    <p:extLst>
      <p:ext uri="{BB962C8B-B14F-4D97-AF65-F5344CB8AC3E}">
        <p14:creationId xmlns:p14="http://schemas.microsoft.com/office/powerpoint/2010/main" val="5799854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6ABD7D-4131-4FA1-8A26-2FABFE39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Два часа — вместе с обратной дорогой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D9B5BB-8A66-46BF-AEA4-F3D18B13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61FDE3-83AC-42B1-AA77-2E08D1FA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52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>
              <a:defRPr sz="52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>
              <a:defRPr sz="52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>
              <a:defRPr sz="52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>
              <a:defRPr sz="52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>
              <a:defRPr sz="52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>
              <a:defRPr sz="52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>
              <a:defRPr sz="52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>
              <a:defRPr sz="52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>
              <a:defRPr sz="52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2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120 минут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DB410-23E4-4DE4-9DDF-FDE3DCEB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10668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Пример посещения одного компьютерного клуба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9D64F0-D68D-4332-B268-D7B300ACADD6}"/>
              </a:ext>
            </a:extLst>
          </p:cNvPr>
          <p:cNvGraphicFramePr/>
          <p:nvPr/>
        </p:nvGraphicFramePr>
        <p:xfrm>
          <a:off xmlns:a="http://schemas.openxmlformats.org/drawingml/2006/main" x="685800" y="3419475"/>
          <a:ext xmlns:a="http://schemas.openxmlformats.org/drawingml/2006/main" cx="10820400" cy="21336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7620000"/>
                <a:gridCol w="3200400"/>
              </a:tblGrid>
              <a:tr h="533400">
                <a:tc>
                  <a:txBody>
                    <a:bodyPr lIns="0" tIns="0" rIns="0" bIns="0"/>
                    <a:lstStyle/>
                    <a:p>
                      <a:r>
                        <a:rPr sz="2175" b="0">
                          <a:solidFill>
                            <a:srgbClr val="123C3B"/>
                          </a:solidFill>
                          <a:latin typeface="Arial"/>
                          <a:ea typeface="Arial"/>
                          <a:cs typeface="Arial"/>
                        </a:rPr>
                        <a:t>Дорога туда и обратно</a:t>
                      </a:r>
                    </a:p>
                  </a:txBody>
                  <a:tcPr marL="91440" marR="91440" marT="45720" marB="45720" anchor="ctr">
                    <a:lnL w="0">
                      <a:solidFill>
                        <a:srgbClr val="F4F0E5"/>
                      </a:solidFill>
                      <a:prstDash val="solid"/>
                    </a:lnL>
                    <a:lnR w="0">
                      <a:solidFill>
                        <a:srgbClr val="F4F0E5"/>
                      </a:solidFill>
                      <a:prstDash val="solid"/>
                    </a:lnR>
                    <a:lnT w="0">
                      <a:solidFill>
                        <a:srgbClr val="F4F0E5"/>
                      </a:solidFill>
                      <a:prstDash val="solid"/>
                    </a:lnT>
                    <a:lnB w="0">
                      <a:solidFill>
                        <a:srgbClr val="F4F0E5"/>
                      </a:solidFill>
                      <a:prstDash val="solid"/>
                    </a:lnB>
                    <a:solidFill>
                      <a:srgbClr val="F4F0E5"/>
                    </a:solidFill>
                  </a:tcPr>
                </a:tc>
                <a:tc>
                  <a:txBody>
                    <a:bodyPr lIns="0" tIns="0" rIns="0" bIns="0"/>
                    <a:lstStyle/>
                    <a:p>
                      <a:r>
                        <a:rPr sz="2175" b="0">
                          <a:solidFill>
                            <a:srgbClr val="123C3B"/>
                          </a:solidFill>
                          <a:latin typeface="Arial"/>
                          <a:ea typeface="Arial"/>
                          <a:cs typeface="Arial"/>
                        </a:rPr>
                        <a:t>18 мин</a:t>
                      </a:r>
                    </a:p>
                  </a:txBody>
                  <a:tcPr marL="91440" marR="91440" marT="45720" marB="45720" anchor="ctr">
                    <a:lnR w="0">
                      <a:solidFill>
                        <a:srgbClr val="F4F0E5"/>
                      </a:solidFill>
                      <a:prstDash val="solid"/>
                    </a:lnR>
                    <a:lnT w="0">
                      <a:solidFill>
                        <a:srgbClr val="F4F0E5"/>
                      </a:solidFill>
                      <a:prstDash val="solid"/>
                    </a:lnT>
                    <a:lnB w="0">
                      <a:solidFill>
                        <a:srgbClr val="F4F0E5"/>
                      </a:solidFill>
                      <a:prstDash val="solid"/>
                    </a:lnB>
                    <a:solidFill>
                      <a:srgbClr val="F4F0E5"/>
                    </a:solidFill>
                  </a:tcPr>
                </a:tc>
              </a:tr>
              <a:tr h="533400">
                <a:tc>
                  <a:txBody>
                    <a:bodyPr lIns="0" tIns="0" rIns="0" bIns="0"/>
                    <a:lstStyle/>
                    <a:p>
                      <a:r>
                        <a:rPr sz="2175" b="0">
                          <a:solidFill>
                            <a:srgbClr val="123C3B"/>
                          </a:solidFill>
                          <a:latin typeface="Arial"/>
                          <a:ea typeface="Arial"/>
                          <a:cs typeface="Arial"/>
                        </a:rPr>
                        <a:t>Предлагаемое время в клубе</a:t>
                      </a:r>
                    </a:p>
                  </a:txBody>
                  <a:tcPr marL="91440" marR="91440" marT="45720" marB="45720" anchor="ctr">
                    <a:lnL w="0">
                      <a:solidFill>
                        <a:srgbClr val="F4F0E5"/>
                      </a:solidFill>
                      <a:prstDash val="solid"/>
                    </a:lnL>
                    <a:lnR w="0">
                      <a:solidFill>
                        <a:srgbClr val="F4F0E5"/>
                      </a:solidFill>
                      <a:prstDash val="solid"/>
                    </a:lnR>
                    <a:lnB w="0">
                      <a:solidFill>
                        <a:srgbClr val="F4F0E5"/>
                      </a:solidFill>
                      <a:prstDash val="solid"/>
                    </a:lnB>
                    <a:solidFill>
                      <a:srgbClr val="F4F0E5"/>
                    </a:solidFill>
                  </a:tcPr>
                </a:tc>
                <a:tc>
                  <a:txBody>
                    <a:bodyPr lIns="0" tIns="0" rIns="0" bIns="0"/>
                    <a:lstStyle/>
                    <a:p>
                      <a:r>
                        <a:rPr sz="2175" b="0">
                          <a:solidFill>
                            <a:srgbClr val="123C3B"/>
                          </a:solidFill>
                          <a:latin typeface="Arial"/>
                          <a:ea typeface="Arial"/>
                          <a:cs typeface="Arial"/>
                        </a:rPr>
                        <a:t>97 мин</a:t>
                      </a:r>
                    </a:p>
                  </a:txBody>
                  <a:tcPr marL="91440" marR="91440" marT="45720" marB="45720" anchor="ctr">
                    <a:lnR w="0">
                      <a:solidFill>
                        <a:srgbClr val="F4F0E5"/>
                      </a:solidFill>
                      <a:prstDash val="solid"/>
                    </a:lnR>
                    <a:lnB w="0">
                      <a:solidFill>
                        <a:srgbClr val="F4F0E5"/>
                      </a:solidFill>
                      <a:prstDash val="solid"/>
                    </a:lnB>
                    <a:solidFill>
                      <a:srgbClr val="F4F0E5"/>
                    </a:solidFill>
                  </a:tcPr>
                </a:tc>
              </a:tr>
              <a:tr h="533400">
                <a:tc>
                  <a:txBody>
                    <a:bodyPr lIns="0" tIns="0" rIns="0" bIns="0"/>
                    <a:lstStyle/>
                    <a:p>
                      <a:r>
                        <a:rPr sz="2175" b="0">
                          <a:solidFill>
                            <a:srgbClr val="123C3B"/>
                          </a:solidFill>
                          <a:latin typeface="Arial"/>
                          <a:ea typeface="Arial"/>
                          <a:cs typeface="Arial"/>
                        </a:rPr>
                        <a:t>Запас</a:t>
                      </a:r>
                    </a:p>
                  </a:txBody>
                  <a:tcPr marL="91440" marR="91440" marT="45720" marB="45720" anchor="ctr">
                    <a:lnL w="0">
                      <a:solidFill>
                        <a:srgbClr val="F4F0E5"/>
                      </a:solidFill>
                      <a:prstDash val="solid"/>
                    </a:lnL>
                    <a:lnR w="0">
                      <a:solidFill>
                        <a:srgbClr val="F4F0E5"/>
                      </a:solidFill>
                      <a:prstDash val="solid"/>
                    </a:lnR>
                    <a:lnB w="0">
                      <a:solidFill>
                        <a:srgbClr val="F4F0E5"/>
                      </a:solidFill>
                      <a:prstDash val="solid"/>
                    </a:lnB>
                    <a:solidFill>
                      <a:srgbClr val="F4F0E5"/>
                    </a:solidFill>
                  </a:tcPr>
                </a:tc>
                <a:tc>
                  <a:txBody>
                    <a:bodyPr lIns="0" tIns="0" rIns="0" bIns="0"/>
                    <a:lstStyle/>
                    <a:p>
                      <a:r>
                        <a:rPr sz="2175" b="0">
                          <a:solidFill>
                            <a:srgbClr val="123C3B"/>
                          </a:solidFill>
                          <a:latin typeface="Arial"/>
                          <a:ea typeface="Arial"/>
                          <a:cs typeface="Arial"/>
                        </a:rPr>
                        <a:t>5 мин</a:t>
                      </a:r>
                    </a:p>
                  </a:txBody>
                  <a:tcPr marL="91440" marR="91440" marT="45720" marB="45720" anchor="ctr">
                    <a:lnR w="0">
                      <a:solidFill>
                        <a:srgbClr val="F4F0E5"/>
                      </a:solidFill>
                      <a:prstDash val="solid"/>
                    </a:lnR>
                    <a:lnB w="0">
                      <a:solidFill>
                        <a:srgbClr val="F4F0E5"/>
                      </a:solidFill>
                      <a:prstDash val="solid"/>
                    </a:lnB>
                    <a:solidFill>
                      <a:srgbClr val="F4F0E5"/>
                    </a:solidFill>
                  </a:tcPr>
                </a:tc>
              </a:tr>
              <a:tr h="533400">
                <a:tc>
                  <a:txBody>
                    <a:bodyPr lIns="0" tIns="0" rIns="0" bIns="0"/>
                    <a:lstStyle/>
                    <a:p>
                      <a:r>
                        <a:rPr sz="2175" b="1">
                          <a:solidFill>
                            <a:srgbClr val="123C3B"/>
                          </a:solidFill>
                          <a:latin typeface="Arial"/>
                          <a:ea typeface="Arial"/>
                          <a:cs typeface="Arial"/>
                        </a:rPr>
                        <a:t>Весь план</a:t>
                      </a:r>
                    </a:p>
                  </a:txBody>
                  <a:tcPr marL="91440" marR="91440" marT="45720" marB="45720" anchor="ctr">
                    <a:lnL w="0">
                      <a:solidFill>
                        <a:srgbClr val="F4F0E5"/>
                      </a:solidFill>
                      <a:prstDash val="solid"/>
                    </a:lnL>
                    <a:lnR w="0">
                      <a:solidFill>
                        <a:srgbClr val="F4F0E5"/>
                      </a:solidFill>
                      <a:prstDash val="solid"/>
                    </a:lnR>
                    <a:lnB w="0">
                      <a:solidFill>
                        <a:srgbClr val="F4F0E5"/>
                      </a:solidFill>
                      <a:prstDash val="solid"/>
                    </a:lnB>
                    <a:solidFill>
                      <a:srgbClr val="F4F0E5"/>
                    </a:solidFill>
                  </a:tcPr>
                </a:tc>
                <a:tc>
                  <a:txBody>
                    <a:bodyPr lIns="0" tIns="0" rIns="0" bIns="0"/>
                    <a:lstStyle/>
                    <a:p>
                      <a:r>
                        <a:rPr sz="2175" b="1">
                          <a:solidFill>
                            <a:srgbClr val="123C3B"/>
                          </a:solidFill>
                          <a:latin typeface="Arial"/>
                          <a:ea typeface="Arial"/>
                          <a:cs typeface="Arial"/>
                        </a:rPr>
                        <a:t>120 мин</a:t>
                      </a:r>
                    </a:p>
                  </a:txBody>
                  <a:tcPr marL="91440" marR="91440" marT="45720" marB="45720" anchor="ctr">
                    <a:lnR w="0">
                      <a:solidFill>
                        <a:srgbClr val="F4F0E5"/>
                      </a:solidFill>
                      <a:prstDash val="solid"/>
                    </a:lnR>
                    <a:lnB w="0">
                      <a:solidFill>
                        <a:srgbClr val="F4F0E5"/>
                      </a:solidFill>
                      <a:prstDash val="solid"/>
                    </a:lnB>
                    <a:solidFill>
                      <a:srgbClr val="F4F0E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22DC87-15BD-4F27-844A-B5884478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293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Время посещения — предложение. Оценка пути на карте может отличаться.</a:t>
            </a:r>
          </a:p>
        </p:txBody>
      </p:sp>
    </p:spTree>
    <p:extLst>
      <p:ext uri="{BB962C8B-B14F-4D97-AF65-F5344CB8AC3E}">
        <p14:creationId xmlns:p14="http://schemas.microsoft.com/office/powerpoint/2010/main" val="4726573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2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1E4E63-D25B-4594-AB3A-CBC0962B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Доверие начинается с честного «не знаю»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EAC29D-2017-464D-9894-4949CA30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8BE9DE-2903-4447-B9A2-820C9D18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0225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Нет факта — нет обещания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D1C1E0-D32D-4A5D-A64C-AA9ACA37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108204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Розетка, тишина и часы работы требуют подтверждения</a:t>
            </a:r>
          </a:p>
          <a:p xmlns:a="http://schemas.openxmlformats.org/drawingml/2006/main">
            <a: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Факт о месте отделён от предлагаемого действия</a:t>
            </a:r>
          </a:p>
          <a:p xmlns:a="http://schemas.openxmlformats.org/drawingml/2006/main">
            <a: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Локация используется для текущего запроса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56C9FC-D82C-4EAC-BB0E-0868C41A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293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Личная геолокация запрашивается с разрешения. Исходное сообщение не записывается в историю.</a:t>
            </a:r>
          </a:p>
        </p:txBody>
      </p:sp>
    </p:spTree>
    <p:extLst>
      <p:ext uri="{BB962C8B-B14F-4D97-AF65-F5344CB8AC3E}">
        <p14:creationId xmlns:p14="http://schemas.microsoft.com/office/powerpoint/2010/main" val="4775969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2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7B9C75-0A16-4271-B3FD-91BDB146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Разные желания — один понятный путь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230EA4-A04A-45E8-92B8-30B5FAA2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A45046-C241-42A3-B659-53A5E70D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381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Короткая прогулка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2F7D02-6FAB-449F-834A-29E78850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809750"/>
            <a:ext cx="5810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Что успеть рядом за 30–60 минут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CCC73-7732-4411-9E2E-FA53E226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381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Кофе и работа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FA4D17-1D22-40A2-9545-71040538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781300"/>
            <a:ext cx="5810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Подходящее место с нужными условиями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7D3FB6-890F-44A4-ACBB-736E6F94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4381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Время с ребёнком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0B8155-E4A3-4F3D-91E0-6CD33755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752850"/>
            <a:ext cx="5810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Площадка или музей — по подтверждённым данным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D3A2C3-76C6-4DA5-8A4D-D4ED220E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4381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Пауза в поездке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5A725F-E77A-49C1-8E22-333572DF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724400"/>
            <a:ext cx="5810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Места поблизости с учётом возвращения</a:t>
            </a:r>
          </a:p>
        </p:txBody>
      </p:sp>
    </p:spTree>
    <p:extLst>
      <p:ext uri="{BB962C8B-B14F-4D97-AF65-F5344CB8AC3E}">
        <p14:creationId xmlns:p14="http://schemas.microsoft.com/office/powerpoint/2010/main" val="14860486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0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A678A3-94F4-43B7-A820-2ED4E809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Что умеем сегодня — и куда развиваемся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2F08C3-B59A-467E-B8B5-6A095616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D0A6D8-5671-4255-A72D-9EE70BD1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Сегодня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24FBB1-B323-423A-BA54-017D71CE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5048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Поддерживаемые категории досуга</a:t>
            </a:r>
          </a:p>
          <a:p xmlns:a="http://schemas.openxmlformats.org/drawingml/2006/main">
            <a: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Не все места и свойства известны</a:t>
            </a:r>
          </a:p>
          <a:p xmlns:a="http://schemas.openxmlformats.org/drawingml/2006/main">
            <a: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Для поиска нужен интернет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6EBE9E-40F8-44E7-8D07-32D0937A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288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Следующий шаг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417D5-2B28-4A7B-9CFF-4EBC9CCC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95600"/>
            <a:ext cx="4762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Понимать более свободные цели</a:t>
            </a:r>
          </a:p>
          <a:p xmlns:a="http://schemas.openxmlformats.org/drawingml/2006/main">
            <a: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Улучшать полноту и свежесть данных</a:t>
            </a:r>
          </a:p>
          <a:p xmlns:a="http://schemas.openxmlformats.org/drawingml/2006/main">
            <a:pPr>
              <a:defRPr sz="22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Проверять полезность с жителями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6A675B-F56D-4D10-902F-75EA0201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293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Маршрут помогает спланировать прогулку; доступность и безопасность требуют самостоятельной оценки.</a:t>
            </a:r>
          </a:p>
        </p:txBody>
      </p:sp>
    </p:spTree>
    <p:extLst>
      <p:ext uri="{BB962C8B-B14F-4D97-AF65-F5344CB8AC3E}">
        <p14:creationId xmlns:p14="http://schemas.microsoft.com/office/powerpoint/2010/main" val="8590453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2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5329F-3C08-440C-BD4D-EA6ED686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Попробуйте Astana Walks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1F9F04-8EC9-4595-90CE-AADFA9D2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A57FE4-8BC5-443B-8E64-FC6D66A9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10820400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Опишите место, время и желание.</a:t>
            </a:r>
          </a:p>
          <a:p xmlns:a="http://schemas.openxmlformats.org/drawingml/2006/main">
            <a:pPr>
              <a:defRPr sz="3675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Остальное соберём в план.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072120-179E-4891-884F-77A49266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3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EC8C0"/>
                </a:solidFill>
                <a:latin typeface="Arial"/>
                <a:ea typeface="Arial"/>
                <a:cs typeface="Arial"/>
              </a:rPr>
              <a:t>Демо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9F4A65-19E4-4940-A219-4FA32959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40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https://ltybcs.com/demo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D093A3-8DC1-4B06-88AB-F83B924E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AEC8C0"/>
                </a:solidFill>
                <a:latin typeface="Arial"/>
                <a:ea typeface="Arial"/>
                <a:cs typeface="Arial"/>
              </a:rPr>
              <a:t>Открытый код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AFD79F-3FDA-4CC7-AE43-1B8B3275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57875"/>
            <a:ext cx="10096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github.com/ltybcs/astana-walks-ai</a:t>
            </a:r>
          </a:p>
        </p:txBody>
      </p:sp>
    </p:spTree>
    <p:extLst>
      <p:ext uri="{BB962C8B-B14F-4D97-AF65-F5344CB8AC3E}">
        <p14:creationId xmlns:p14="http://schemas.microsoft.com/office/powerpoint/2010/main" val="6046537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2026-10-20T18:44:09.0820000Z</dcterms:created>
  <dcterms:modified xsi:type="dcterms:W3CDTF">2026-10-20T18:44:09.0820000Z</dcterms:modified>
</coreProperties>
</file>