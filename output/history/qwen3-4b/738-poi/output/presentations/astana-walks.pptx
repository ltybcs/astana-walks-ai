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e3e71739444739" /><Relationship Type="http://schemas.openxmlformats.org/officeDocument/2006/relationships/extended-properties" Target="/docProps/app.xml" Id="Rf402fcdfbb2f46ed" /><Relationship Type="http://schemas.openxmlformats.org/officeDocument/2006/relationships/officeDocument" Target="/ppt/presentation.xml" Id="R754dba50725343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73501ee8aa47a7"/>
  </p:sldMasterIdLst>
  <p:notesMasterIdLst>
    <p:notesMasterId xmlns:r="http://schemas.openxmlformats.org/officeDocument/2006/relationships" r:id="R677ddb085dd94979"/>
  </p:notesMasterIdLst>
  <p:sldIdLst>
    <p:sldId xmlns:r="http://schemas.openxmlformats.org/officeDocument/2006/relationships" id="256" r:id="R2ea89f59fffb4341"/>
    <p:sldId xmlns:r="http://schemas.openxmlformats.org/officeDocument/2006/relationships" id="257" r:id="R2884f84a1e1645ce"/>
    <p:sldId xmlns:r="http://schemas.openxmlformats.org/officeDocument/2006/relationships" id="258" r:id="Rec64a8bb4ca84a54"/>
    <p:sldId xmlns:r="http://schemas.openxmlformats.org/officeDocument/2006/relationships" id="259" r:id="R58b9010c739148b7"/>
    <p:sldId xmlns:r="http://schemas.openxmlformats.org/officeDocument/2006/relationships" id="260" r:id="R8c98c4ee136c4468"/>
    <p:sldId xmlns:r="http://schemas.openxmlformats.org/officeDocument/2006/relationships" id="261" r:id="Rcfbdd09151d14849"/>
    <p:sldId xmlns:r="http://schemas.openxmlformats.org/officeDocument/2006/relationships" id="262" r:id="R1918b2c469e3467d"/>
    <p:sldId xmlns:r="http://schemas.openxmlformats.org/officeDocument/2006/relationships" id="263" r:id="R3f2569718bde48e9"/>
    <p:sldId xmlns:r="http://schemas.openxmlformats.org/officeDocument/2006/relationships" id="264" r:id="R0528a5415ab444c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c19c22d9304fee" /><Relationship Type="http://schemas.openxmlformats.org/officeDocument/2006/relationships/slideMaster" Target="/ppt/slideMasters/slideMaster1.xml" Id="Rce73501ee8aa47a7" /><Relationship Type="http://schemas.openxmlformats.org/officeDocument/2006/relationships/notesMaster" Target="/ppt/notesMasters/notesMaster1.xml" Id="R677ddb085dd94979" /><Relationship Type="http://schemas.openxmlformats.org/officeDocument/2006/relationships/presProps" Target="/ppt/presProps.xml" Id="Rb7d5888e0d7241ee" /><Relationship Type="http://schemas.openxmlformats.org/officeDocument/2006/relationships/tableStyles" Target="/ppt/tableStyles.xml" Id="R641103f18c0b4035" /><Relationship Type="http://schemas.openxmlformats.org/officeDocument/2006/relationships/slide" Target="/ppt/slides/slide1.xml" Id="R2ea89f59fffb4341" /><Relationship Type="http://schemas.openxmlformats.org/officeDocument/2006/relationships/slide" Target="/ppt/slides/slide2.xml" Id="R2884f84a1e1645ce" /><Relationship Type="http://schemas.openxmlformats.org/officeDocument/2006/relationships/slide" Target="/ppt/slides/slide3.xml" Id="Rec64a8bb4ca84a54" /><Relationship Type="http://schemas.openxmlformats.org/officeDocument/2006/relationships/slide" Target="/ppt/slides/slide4.xml" Id="R58b9010c739148b7" /><Relationship Type="http://schemas.openxmlformats.org/officeDocument/2006/relationships/slide" Target="/ppt/slides/slide5.xml" Id="R8c98c4ee136c4468" /><Relationship Type="http://schemas.openxmlformats.org/officeDocument/2006/relationships/slide" Target="/ppt/slides/slide6.xml" Id="Rcfbdd09151d14849" /><Relationship Type="http://schemas.openxmlformats.org/officeDocument/2006/relationships/slide" Target="/ppt/slides/slide7.xml" Id="R1918b2c469e3467d" /><Relationship Type="http://schemas.openxmlformats.org/officeDocument/2006/relationships/slide" Target="/ppt/slides/slide8.xml" Id="R3f2569718bde48e9" /><Relationship Type="http://schemas.openxmlformats.org/officeDocument/2006/relationships/slide" Target="/ppt/slides/slide9.xml" Id="R0528a5415ab444c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f6c7e76bfc403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009d93b0044ffc" /><Relationship Type="http://schemas.openxmlformats.org/officeDocument/2006/relationships/notesMaster" Target="/ppt/notesMasters/notesMaster1.xml" Id="R8db3840ef1cc41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07ecf5f324483e" /><Relationship Type="http://schemas.openxmlformats.org/officeDocument/2006/relationships/notesMaster" Target="/ppt/notesMasters/notesMaster1.xml" Id="R7307fd23fab247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46d22f47284c2e" /><Relationship Type="http://schemas.openxmlformats.org/officeDocument/2006/relationships/notesMaster" Target="/ppt/notesMasters/notesMaster1.xml" Id="R7a06b2252bb0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39ab1bdb294a70" /><Relationship Type="http://schemas.openxmlformats.org/officeDocument/2006/relationships/notesMaster" Target="/ppt/notesMasters/notesMaster1.xml" Id="Rb83c2c0127e541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884a7fda574df1" /><Relationship Type="http://schemas.openxmlformats.org/officeDocument/2006/relationships/notesMaster" Target="/ppt/notesMasters/notesMaster1.xml" Id="Rd904f45d927144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95bb538a334d51" /><Relationship Type="http://schemas.openxmlformats.org/officeDocument/2006/relationships/notesMaster" Target="/ppt/notesMasters/notesMaster1.xml" Id="Re9df4447f35d40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2b04afe4ce400e" /><Relationship Type="http://schemas.openxmlformats.org/officeDocument/2006/relationships/notesMaster" Target="/ppt/notesMasters/notesMaster1.xml" Id="R428f5a2efbe343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30fe5de7d714549" /><Relationship Type="http://schemas.openxmlformats.org/officeDocument/2006/relationships/notesMaster" Target="/ppt/notesMasters/notesMaster1.xml" Id="Rda27c70ad632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a6e08da0be467c" /><Relationship Type="http://schemas.openxmlformats.org/officeDocument/2006/relationships/notesMaster" Target="/ppt/notesMasters/notesMaster1.xml" Id="R278a7c2b58ea4c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Здравствуйте. Мы представляем Astana Walks, помощника для коротких прогулок в Астане. Он решает первую задачу НИЦ Smart City: учитывает стартовую точку, интересы и время человека, ищет подходящие городские места и объясняет рекомендации. Наш пользователь может быть жителем, гостем города или туристом, у которого есть свободный час. Ему нужен небольшой понятный план, а не ещё один длинный список заведений. Начнём с обычной ситуации возле EXPO.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Условие хакатона, задача №1, страницы 1–3.</a:t>
            </a:r>
          </a:p>
          <a:p xmlns:a="http://schemas.openxmlformats.org/drawingml/2006/main">
            <a:r>
              <a:t>https://github.com/ltybcs/astana-walks-ai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этом проверочном сценарии человек говорит: «У меня 45 минут возле Mega, хочу короткую прогулку». Он выбирает старт возле EXPO и располагает 45 минутами. Система предлагает 1 место: NU Park. Расчётный план занимает 42 минут вместе с возвращением. Мы включаем возврат, чтобы короткая прогулка не закончилась далеко от исходной точки. Расстояние рассчитываем приближённо и прямо об этом сообщаем. Реальные переходы, ограждения и состояние тротуаров пока требуют отдельной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Оценка пути геометрическая, с запасом на обход и возвратом. Это не пешеходная навигация.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Так выглядит фактический ответ работающего приложения. Пользователь задаёт интересы, время и смоделированный старт, затем получает до трёх рекомендаций. У каждого места видно, почему оно подходит, сколько займёт посещение и что можно там сделать. Рядом находится ссылка на источник. Мы различаем факт из каталога и предложенную идею действия. Например, внешний осмотр архитектуры можно предложить, но нельзя объявить текущую выставку без подтверждения. Пользователь также видит предупреждения и фактический режим генерации. Интерфейс ориентирован на телефон, его можно установить как PWA. Для установки на реальном телефоне нужен HTTPS. Офлайн доступна только оболочка. Подбор требует сервера, ответы API в кэш не попадают. Пользователь подтвердил установку на телефон (Android, Chrome) и запуск по иконке. Работу без сети на этом устройстве мы не проверяли.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Фактический скриншот: output/demo-ui.jpg</a:t>
            </a:r>
          </a:p>
          <a:p xmlns:a="http://schemas.openxmlformats.org/drawingml/2006/main">
            <a:r>
              <a:t>output/demo-mobile.jpg</a:t>
            </a:r>
          </a:p>
          <a:p xmlns:a="http://schemas.openxmlformats.org/drawingml/2006/main">
            <a:r>
              <a:t>Режим на момент сборки: llama.cpp b11739 (CPU, loopback) / Qwen3-4B-Instruct-2507 Q4_K_M (Unsloth) / astana-local</a:t>
            </a:r>
          </a:p>
          <a:p xmlns:a="http://schemas.openxmlformats.org/drawingml/2006/main">
            <a:r>
              <a:t>output/live-explanations.json</a:t>
            </a:r>
          </a:p>
          <a:p xmlns:a="http://schemas.openxmlformats.org/drawingml/2006/main">
            <a:r>
              <a:t>https://developer.mozilla.org/en-US/docs/Web/Progressive_web_apps/Guides/Making_PWAs_installable</a:t>
            </a:r>
          </a:p>
          <a:p xmlns:a="http://schemas.openxmlformats.org/drawingml/2006/main">
            <a:r>
              <a:t>PR #7 c31bc7a and quota fix 90ed954. web/sw.js: shell allowlist, API network-only, no query/non-GET caching. HTTPS resource results: output/https-check.json. Physical installation and launch from icon reported by the user on 2026-10-20, not independently observed.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RAG начинается с данных. Автоматический сборщик получает публичные точки из набора Astana POI / OpenStreetMap, нормализует их и сохраняет происхождение. Затем поиск BM25 сопоставляет текст интересов с описаниями и категориями. Мы учитываем расстояние, время суток и обязательные ограничения. Планировщик выбирает достижимую последовательность мест и рассчитывает возврат. Модель Qwen3-4B-Instruct-2507 Q4_K_M (Unsloth) / astana-local получила только найденные POI и сформировала объяснения. После генерации приложение проверяет ссылки на найденные места и ограничения плана. При отказе провайдера оно показывает локальный ответ и честно меняет название режима.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app/retrieval.py</a:t>
            </a:r>
          </a:p>
          <a:p xmlns:a="http://schemas.openxmlformats.org/drawingml/2006/main">
            <a:r>
              <a:t>app/generation.py</a:t>
            </a:r>
          </a:p>
          <a:p xmlns:a="http://schemas.openxmlformats.org/drawingml/2006/main">
            <a:r>
              <a:t>app/llm.py</a:t>
            </a:r>
          </a:p>
          <a:p xmlns:a="http://schemas.openxmlformats.org/drawingml/2006/main">
            <a:r>
              <a:t>Actual report: output/evaluation-live.json. 5/5 main scenarios, 87/87 tests. 4/4 eligible scenarios validated, 4 provider calls in main scenarios.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текущем наборе 738 реальных POI. Дата сбора: 20.10.2026. У объектов есть название, координаты, категория и короткое описание. Если источник содержит часы работы или подтверждённые свойства, мы сохраняем их вместе с ID источника и ссылкой. Автоматический сбор воспроизводим через скрипт и сохранённый снимок данных. Это сведения источника, а не наша полевая проверка каждого места. Поэтому отсутствие информации остаётся неизвестностью. Атрибуция: © OpenStreetMap contributors. Условия данных: ODbL 1.0.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data/poi.astana.json</a:t>
            </a:r>
          </a:p>
          <a:p xmlns:a="http://schemas.openxmlformats.org/drawingml/2006/main">
            <a:r>
              <a:t>https://www.openstreetmap.org/copyright</a:t>
            </a:r>
          </a:p>
          <a:p xmlns:a="http://schemas.openxmlformats.org/drawingml/2006/main">
            <a:r>
              <a:t>© OpenStreetMap contributors</a:t>
            </a:r>
          </a:p>
          <a:p xmlns:a="http://schemas.openxmlformats.org/drawingml/2006/main">
            <a:r>
              <a:t>ODbL 1.0</a:t>
            </a:r>
          </a:p>
          <a:p xmlns:a="http://schemas.openxmlformats.org/drawingml/2006/main">
            <a:r>
              <a:t>SHA-256 набора: eb5ebd1a3bd13bbae5ce5005a663a3ac0a0dbcb94b9dabfaa4d774f9610bee08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проверили 5 сценариев из условия хакатона. Автоматический набор содержит 87 пройденных тестов. В сценариях проверяем число рекомендаций, бюджет времени с возвратом, наличие источников и соблюдение явных ограничений. Прогулка возле EXPO должна давать конкретные достижимые места. Запрос про розетку требует подтверждения источника. Тишина остаётся неизвестной, а явное требование только тихого места включает строгий фильтр. Детский сценарий не должен обещать безопасность без данных. Для туриста учитывается прогулка, но не дорога в аэропорт. Ночью неизвестные часы не превращаются в обещание открытого заведения.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output/evaluation.json</a:t>
            </a:r>
          </a:p>
          <a:p xmlns:a="http://schemas.openxmlformats.org/drawingml/2006/main">
            <a:r>
              <a:t>Проверки фиксируют поведение прототипа. Они не измеряют удовлетворённость жителей и безопасность городских маршрутов.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Локация нужна только для текущего ответа. Приложение не создаёт аккаунт, историю прогулок или аналитический профиль. Оно не сохраняет запросы и точные координаты в журнале или localStorage. Во внешнюю модель можно передать только признаки интересов и отобранные публичные POI. Исходный пользовательский текст, координаты старта, расстояния и расчётные времена в этот запрос не включаем. Ключ находится только на backend. Ссылки на источники, неизвестные свойства и честные предупреждения помогают человеку оценить совет самостоятельно.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docs/PRIVACY.md</a:t>
            </a:r>
          </a:p>
          <a:p xmlns:a="http://schemas.openxmlformats.org/drawingml/2006/main">
            <a:r>
              <a:t>app/server.py</a:t>
            </a:r>
          </a:p>
          <a:p xmlns:a="http://schemas.openxmlformats.org/drawingml/2006/main">
            <a:r>
              <a:t>app/llm.py</a:t>
            </a:r>
          </a:p>
          <a:p xmlns:a="http://schemas.openxmlformats.org/drawingml/2006/main">
            <a:r>
              <a:t>LLM получает признаки интересов и найденные публичные POI: name, category, description, features. Исходный запрос, origin, координаты, расчётные времена, расстояния и opening_hours не передаются. Числа и расписания отображаются отдельно из backend, а не генерируются в свободном тексте.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Бизнес-гипотеза проекта: предложить помощника отелям и туристическим стойкам, где гостю часто нужен план на небольшой промежуток времени. Это ещё не подтверждённый спрос. В пилоте мы хотим измерить долю выбранных планов и полезность объяснений. Любые будущие коммерческие рекомендации потребуют явной маркировки. Развитие начнём с пешеходной маршрутизации и более надёжной проверки часов работы. После этого проведём оценку с жителями и добавим казахский и английский языки. Эти возможности пока входят в план развития.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docs/CONCEPT.md</a:t>
            </a:r>
          </a:p>
          <a:p xmlns:a="http://schemas.openxmlformats.org/drawingml/2006/main">
            <a:r>
              <a:t>Бизнес-модель и пилот — гипотезы команды. Выручка и спрос не измерялись.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 репозитории находятся работающий прототип, автоматический сборщик, зафиксированный набор POI, инструкции запуска и проверок. Мы подготовили документ сценариев и ограничений, презентацию и демонстрацию. Основные ограничения сохраняются: путь приблизительный, городские данные могут быть неполными, события и безопасность маршрута в реальном времени не проверяются. Astana Walks уже показывает, как связать интересы человека, доступное время и объяснимые рекомендации из конкретных источников. Спасибо, готовы показать сценарий и ответить на вопросы. Временный HTTPS-сайт доступен, пока работают наш компьютер и туннель.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 и доказательства:</a:t>
            </a:r>
          </a:p>
          <a:p xmlns:a="http://schemas.openxmlformats.org/drawingml/2006/main">
            <a:r>
              <a:t>https://github.com/ltybcs/astana-walks-ai</a:t>
            </a:r>
          </a:p>
          <a:p xmlns:a="http://schemas.openxmlformats.org/drawingml/2006/main">
            <a:r>
              <a:t>https://entire-burn-cricket-ashley.trycloudflare.com/</a:t>
            </a:r>
          </a:p>
          <a:p xmlns:a="http://schemas.openxmlformats.org/drawingml/2006/main">
            <a:r>
              <a:t>output/https-check.json</a:t>
            </a:r>
          </a:p>
          <a:p xmlns:a="http://schemas.openxmlformats.org/drawingml/2006/main">
            <a:r>
              <a:t>Публикация YouTube не подтверждена.</a:t>
            </a:r>
          </a:p>
          <a:p xmlns:a="http://schemas.openxmlformats.org/drawingml/2006/main">
            <a:r>
              <a:t>Снимок материалов: 2026-10-20T01:51:50+05:00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9698767aef44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036a7e0097465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9db9ba32e841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ea2d1956349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54c7be06da45d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e102c410f0422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0E32B78-2C92-46BE-BEA7-B165F29D5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D7B129-1CBF-4F38-BAAC-A031BA34B56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8056A12-FCC6-433C-A143-06A8F29F5E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FB76A8-0592-41AD-A39F-AC6D928D79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139A8E5-1000-431B-8ABF-782322653A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3D14604-29EA-4B0A-ACE3-80A55EB1E7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7F22FC-D710-43BB-A97B-2D5AECACC1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3814E70-A210-4360-8205-C23A4BC4091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0B7DB2-1D71-4B79-B389-A45E607382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37E863-1339-4EB9-8FE0-B2BA022FF70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f32e3ba0714a75" /><Relationship Type="http://schemas.openxmlformats.org/officeDocument/2006/relationships/slideLayout" Target="/ppt/slideLayouts/slideLayout1.xml" Id="R7aaa9aacb98e4aae" /><Relationship Type="http://schemas.openxmlformats.org/officeDocument/2006/relationships/slideLayout" Target="/ppt/slideLayouts/slideLayout2.xml" Id="R428f218594214ca0" /><Relationship Type="http://schemas.openxmlformats.org/officeDocument/2006/relationships/slideLayout" Target="/ppt/slideLayouts/slideLayout3.xml" Id="R7bb2361b3f7843fe" /><Relationship Type="http://schemas.openxmlformats.org/officeDocument/2006/relationships/slideLayout" Target="/ppt/slideLayouts/slideLayout4.xml" Id="Rf5f0d8e7691a47a6" /><Relationship Type="http://schemas.openxmlformats.org/officeDocument/2006/relationships/slideLayout" Target="/ppt/slideLayouts/slideLayout5.xml" Id="R9838393bc2e2400c" /><Relationship Type="http://schemas.openxmlformats.org/officeDocument/2006/relationships/slideLayout" Target="/ppt/slideLayouts/slideLayout6.xml" Id="Refadae30127843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aa9aacb98e4aae"/>
    <p:sldLayoutId xmlns:r="http://schemas.openxmlformats.org/officeDocument/2006/relationships" id="2147483650" r:id="R428f218594214ca0"/>
    <p:sldLayoutId xmlns:r="http://schemas.openxmlformats.org/officeDocument/2006/relationships" id="2147483651" r:id="R7bb2361b3f7843fe"/>
    <p:sldLayoutId xmlns:r="http://schemas.openxmlformats.org/officeDocument/2006/relationships" id="2147483652" r:id="Rf5f0d8e7691a47a6"/>
    <p:sldLayoutId xmlns:r="http://schemas.openxmlformats.org/officeDocument/2006/relationships" id="2147483653" r:id="R9838393bc2e2400c"/>
    <p:sldLayoutId xmlns:r="http://schemas.openxmlformats.org/officeDocument/2006/relationships" id="2147483654" r:id="Refadae30127843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0135e503c24abc" /><Relationship Type="http://schemas.openxmlformats.org/officeDocument/2006/relationships/notesSlide" Target="/ppt/notesSlides/notesSlide1.xml" Id="R6bbe4170bb4e41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0bc6dd467c4e67" /><Relationship Type="http://schemas.openxmlformats.org/officeDocument/2006/relationships/notesSlide" Target="/ppt/notesSlides/notesSlide2.xml" Id="Rbff25a9f4df8476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7744a212a546bb" /><Relationship Type="http://schemas.openxmlformats.org/officeDocument/2006/relationships/image" Target="/ppt/media/image.jpeg" Id="R9f1c30e3ce8f43a3" /><Relationship Type="http://schemas.openxmlformats.org/officeDocument/2006/relationships/image" Target="/ppt/media/image2.jpeg" Id="Rf941f96edda14986" /><Relationship Type="http://schemas.openxmlformats.org/officeDocument/2006/relationships/notesSlide" Target="/ppt/notesSlides/notesSlide3.xml" Id="R0cbd693933b94e3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556befac99400c" /><Relationship Type="http://schemas.openxmlformats.org/officeDocument/2006/relationships/notesSlide" Target="/ppt/notesSlides/notesSlide4.xml" Id="R9055b31a15ab429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63877c0433462b" /><Relationship Type="http://schemas.openxmlformats.org/officeDocument/2006/relationships/notesSlide" Target="/ppt/notesSlides/notesSlide5.xml" Id="R3cb612876c094f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ca0dfb60c674417" /><Relationship Type="http://schemas.openxmlformats.org/officeDocument/2006/relationships/notesSlide" Target="/ppt/notesSlides/notesSlide6.xml" Id="R5c34102eee4f4e0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76201d6f7f24bb5" /><Relationship Type="http://schemas.openxmlformats.org/officeDocument/2006/relationships/notesSlide" Target="/ppt/notesSlides/notesSlide7.xml" Id="Re17e9e00638a4f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7647edea5b4c01" /><Relationship Type="http://schemas.openxmlformats.org/officeDocument/2006/relationships/notesSlide" Target="/ppt/notesSlides/notesSlide8.xml" Id="Rf5d26d2fd9264b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8bd388145544eb" /><Relationship Type="http://schemas.openxmlformats.org/officeDocument/2006/relationships/notesSlide" Target="/ppt/notesSlides/notesSlide9.xml" Id="Rf5c78a9a0a0f4d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B08E18-3956-460D-A175-D3F9AF17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EC26B-BDEE-4B52-AE7A-F1840B5B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Astana Walks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0B30F-ADF2-4955-9C83-37ABE3F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90775"/>
            <a:ext cx="99060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4275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Помощник для коротких</a:t>
            </a:r>
          </a:p>
          <a:p xmlns:a="http://schemas.openxmlformats.org/drawingml/2006/main">
            <a:pPr algn="l">
              <a:defRPr sz="42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4275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прогулок в Астане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3EE0B-2A29-4AE7-A83E-BB474AAA7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02920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Задача №1 НИЦ Smart City</a:t>
            </a:r>
          </a:p>
          <a:p xmlns:a="http://schemas.openxmlformats.org/drawingml/2006/main">
            <a:pPr algn="l">
              <a:defRPr sz="20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Build with AI / GDG Astana</a:t>
            </a:r>
          </a:p>
        </p:txBody>
      </p:sp>
    </p:spTree>
    <p:extLst>
      <p:ext uri="{BB962C8B-B14F-4D97-AF65-F5344CB8AC3E}">
        <p14:creationId xmlns:p14="http://schemas.microsoft.com/office/powerpoint/2010/main" val="1269389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79A9F-16C8-4B6B-B192-404FCEE3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Прогулка рядом с EXPO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D6568-3FE6-4BDA-A5DA-ED1805E2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99810D-0F86-4CC7-9AF5-83821B69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43075"/>
            <a:ext cx="304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8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45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E7892-F71E-42AC-8D6E-230F51DF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7187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минут на прогулку</a:t>
            </a:r>
          </a:p>
          <a:p xmlns:a="http://schemas.openxmlformats.org/drawingml/2006/main">
            <a:pPr algn="l">
              <a:defRPr sz="23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с возвращением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4689A4-2EF0-4148-8114-0B6C8052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762125"/>
            <a:ext cx="666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«У меня 45 минут возле Mega, хочу короткую прогулку»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A6F20-7F13-406C-9F9A-C25F410A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05175"/>
            <a:ext cx="6667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BCE9D0-8019-4532-A49F-15621734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019675"/>
            <a:ext cx="666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42 мин по расчёту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1 место, объяснения и идеи действий</a:t>
            </a:r>
          </a:p>
        </p:txBody>
      </p:sp>
    </p:spTree>
    <p:extLst>
      <p:ext uri="{BB962C8B-B14F-4D97-AF65-F5344CB8AC3E}">
        <p14:creationId xmlns:p14="http://schemas.microsoft.com/office/powerpoint/2010/main" val="140106589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A121C-AD3E-463C-8356-717AF6B89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Ответ в интерфейсе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21282-3656-4A1F-9DD9-99C4E291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68D78A-765D-463B-90B4-16E714BB4C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c30e3ce8f43a3"/>
          <a:srcRect xmlns:a="http://schemas.openxmlformats.org/drawingml/2006/main" l="34500" t="5000" r="2500" b="23000"/>
          <a:stretch xmlns:a="http://schemas.openxmlformats.org/drawingml/2006/main"/>
        </p:blipFill>
        <p:spPr>
          <a:xfrm xmlns:a="http://schemas.openxmlformats.org/drawingml/2006/main">
            <a:off x="5986355" y="1409700"/>
            <a:ext cx="5248490" cy="4695825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A7256-E38D-4DBD-BE0A-29546EA2A7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1f96edda14986"/>
          <a:stretch xmlns:a="http://schemas.openxmlformats.org/drawingml/2006/main"/>
        </p:blipFill>
        <p:spPr>
          <a:xfrm xmlns:a="http://schemas.openxmlformats.org/drawingml/2006/main">
            <a:off x="742334" y="1619250"/>
            <a:ext cx="2001482" cy="4333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822CB-4EC0-407F-B3E1-E36F0D51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828800"/>
            <a:ext cx="2266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Из проверочного</a:t>
            </a:r>
          </a:p>
          <a:p xmlns:a="http://schemas.openxmlformats.org/drawingml/2006/main">
            <a:pPr algn="l">
              <a:defRPr sz="18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прогона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A1CA7A-9024-4E78-A708-20C93D89E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609850"/>
            <a:ext cx="22669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«Парк соответствует интересу в прогулке на воздухе»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9E6D72-D82F-4180-8446-F5CCFE50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1911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NU Park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5F5591-7B29-4D8E-8386-A6E9E9E5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743575"/>
            <a:ext cx="2266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42 мин, с возвратом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BE4EA8-3944-478F-90D7-315B37A9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Установка и запуск по иконке подтверждены пользователем</a:t>
            </a:r>
          </a:p>
        </p:txBody>
      </p:sp>
    </p:spTree>
    <p:extLst>
      <p:ext uri="{BB962C8B-B14F-4D97-AF65-F5344CB8AC3E}">
        <p14:creationId xmlns:p14="http://schemas.microsoft.com/office/powerpoint/2010/main" val="19269421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CB5AC-A4EE-436B-9C58-E3691AAD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Как работает RAG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E7101-5B85-45A4-9C13-DC6A716A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6799-CBAB-44D5-90D7-ADDD58A1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371D6-4565-4EB4-AAE3-EE20189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Данные POI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B095D2-27BA-4C20-87D7-467A4ADD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Автоматический сбор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Публичные POI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Источник и дата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2461A4-C4F6-47E2-B236-53A48307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4701E-5973-4EDD-BAA1-DF6019A1A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Поиск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8DCA8-D64A-4E9C-920B-134A08B6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BM25 и категории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Локация и время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Строгие ограничения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D9B84-F238-4633-8431-57895E35A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5D69A-CD6C-45D8-935D-04D668E5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Рекомендация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E1DA93-A4D4-443E-A7C1-7157F809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Найденные места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Краткое объяснение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Идея действия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DBC0D3-05E1-4D23-92D1-23B92A4A6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33550"/>
            <a:ext cx="2238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EF1BB8-B89B-462C-BA5F-0CB12E14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57475"/>
            <a:ext cx="2428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D757C2-DBFB-4F90-A814-C226DAE01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562350"/>
            <a:ext cx="2428875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Только известные ID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Бюджет с возвратом</a:t>
            </a:r>
          </a:p>
          <a:p xmlns:a="http://schemas.openxmlformats.org/drawingml/2006/main">
            <a:pPr algn="l">
              <a:defRPr sz="195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Честный fallback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E72B8-BD47-4E68-BB96-7B9FED6E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D3BE"/>
                </a:solidFill>
                <a:latin typeface="Arial"/>
                <a:ea typeface="Arial"/>
                <a:cs typeface="Arial"/>
              </a:rPr>
              <a:t>Генерация: Qwen3-4B-Instruct-2507 Q4_K_M (Unsloth)</a:t>
            </a:r>
          </a:p>
        </p:txBody>
      </p:sp>
    </p:spTree>
    <p:extLst>
      <p:ext uri="{BB962C8B-B14F-4D97-AF65-F5344CB8AC3E}">
        <p14:creationId xmlns:p14="http://schemas.microsoft.com/office/powerpoint/2010/main" val="4624088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9FF10-4EE1-4145-8377-EC70E562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Данные и происхождение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B482-E38D-4BB3-8B6C-ECCE5AF84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16A5E-ECFF-47AF-AA9F-F948BE46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24025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9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9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738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19C028-470E-48C2-A506-36C5F861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524250"/>
            <a:ext cx="495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реальных POI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7FCE8F-545D-41B8-B240-DE8B6793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619625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Сбор: 20.10.2026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63AE29-A78D-437F-A308-5333E864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05450"/>
            <a:ext cx="504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© OpenStreetMap contributors</a:t>
            </a:r>
          </a:p>
          <a:p xmlns:a="http://schemas.openxmlformats.org/drawingml/2006/main">
            <a:pPr algn="l">
              <a:defRPr sz="17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ODbL 1.0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CA18E4-F738-449A-9CD7-B738D7EC7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57375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Astana POI / OpenStreetMap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3EEA2E-3121-4AFF-BBCA-6524F65A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33725"/>
            <a:ext cx="52387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Название, координаты, категория</a:t>
            </a:r>
          </a:p>
          <a:p xmlns:a="http://schemas.openxmlformats.org/drawingml/2006/main">
            <a: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Описание и доступные теги</a:t>
            </a:r>
          </a:p>
          <a:p xmlns:a="http://schemas.openxmlformats.org/drawingml/2006/main">
            <a:pPr algn="l">
              <a:defRPr sz="217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ID источника, ссылка и дата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CD2105-D095-49CF-8BF6-7BC5D6EE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067300"/>
            <a:ext cx="5238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492 POI без часов работы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Неизвестное не становится обещанием</a:t>
            </a:r>
          </a:p>
        </p:txBody>
      </p:sp>
    </p:spTree>
    <p:extLst>
      <p:ext uri="{BB962C8B-B14F-4D97-AF65-F5344CB8AC3E}">
        <p14:creationId xmlns:p14="http://schemas.microsoft.com/office/powerpoint/2010/main" val="1048807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4C4896-4E4B-4D51-9FF8-12885823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 пользовательских сценариев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E3555F-C1DE-4662-9642-0C24209C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6B9C0B-ED81-4623-AA99-17BE23D3B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33525"/>
            <a:ext cx="4095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5/5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C04CC-EB73-42A3-9901-E3FBAD882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971675"/>
            <a:ext cx="6096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87 автоматических тестов пройдено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8653A7-4B4B-4976-BDE4-0F2AA76CA389}"/>
              </a:ext>
            </a:extLst>
          </p:cNvPr>
          <p:cNvGraphicFramePr/>
          <p:nvPr/>
        </p:nvGraphicFramePr>
        <p:xfrm>
          <a:off xmlns:a="http://schemas.openxmlformats.org/drawingml/2006/main" x="685800" y="3000375"/>
          <a:ext xmlns:a="http://schemas.openxmlformats.org/drawingml/2006/main" cx="10820400" cy="28098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6419850"/>
                <a:gridCol w="4400550"/>
              </a:tblGrid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Прогулка у EXPO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T w="0">
                      <a:solidFill>
                        <a:srgbClr val="0A2D2E"/>
                      </a:solidFill>
                      <a:prstDash val="solid"/>
                    </a:lnT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42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T w="0">
                      <a:solidFill>
                        <a:srgbClr val="0A2D2E"/>
                      </a:solidFill>
                      <a:prstDash val="solid"/>
                    </a:lnT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Кофе, тишина, розетка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Нет подтверждённых мест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Прогулка с ребёнком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32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Турист, два часа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3 места, 111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  <a:tr h="561975"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F4F0E5"/>
                          </a:solidFill>
                          <a:latin typeface="Arial"/>
                          <a:ea typeface="Arial"/>
                          <a:cs typeface="Arial"/>
                        </a:rPr>
                        <a:t>Ночная активность</a:t>
                      </a:r>
                    </a:p>
                  </a:txBody>
                  <a:tcPr marL="91440" marR="91440" marT="45720" marB="45720" anchor="ctr">
                    <a:lnL w="0">
                      <a:solidFill>
                        <a:srgbClr val="0A2D2E"/>
                      </a:solidFill>
                      <a:prstDash val="solid"/>
                    </a:lnL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  <a:tc>
                  <a:txBody>
                    <a:bodyPr lIns="0" tIns="0" rIns="0" bIns="0"/>
                    <a:lstStyle/>
                    <a:p>
                      <a:r>
                        <a:rPr sz="1950">
                          <a:solidFill>
                            <a:srgbClr val="AEC8C0"/>
                          </a:solidFill>
                          <a:latin typeface="Arial"/>
                          <a:ea typeface="Arial"/>
                          <a:cs typeface="Arial"/>
                        </a:rPr>
                        <a:t>1 место, 46 мин</a:t>
                      </a:r>
                    </a:p>
                  </a:txBody>
                  <a:tcPr marL="91440" marR="91440" marT="45720" marB="45720" anchor="ctr">
                    <a:lnR w="0">
                      <a:solidFill>
                        <a:srgbClr val="0A2D2E"/>
                      </a:solidFill>
                      <a:prstDash val="solid"/>
                    </a:lnR>
                    <a:lnB w="0">
                      <a:solidFill>
                        <a:srgbClr val="0A2D2E"/>
                      </a:solidFill>
                      <a:prstDash val="solid"/>
                    </a:lnB>
                    <a:solidFill>
                      <a:srgbClr val="0A2D2E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73078-EFAE-451C-BDE5-45F13703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Формальные ограничения плана; пустой ответ допустим.</a:t>
            </a:r>
          </a:p>
          <a:p xmlns:a="http://schemas.openxmlformats.org/drawingml/2006/main">
            <a:pPr algn="l">
              <a:defRPr sz="1500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Качество текста проверяем отдельно.</a:t>
            </a:r>
          </a:p>
        </p:txBody>
      </p:sp>
    </p:spTree>
    <p:extLst>
      <p:ext uri="{BB962C8B-B14F-4D97-AF65-F5344CB8AC3E}">
        <p14:creationId xmlns:p14="http://schemas.microsoft.com/office/powerpoint/2010/main" val="21377716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5F59D6-B3AB-4091-AE86-72A53516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Приватность и доверие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11032E-51DB-4861-9C93-8BEE581CC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9BED9-81D3-4F02-AE10-179A581B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Локация для одного ответа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D30EFA-4D0A-4A50-9178-0BEC338D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038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Без аккаунта, истории прогулок и аналитики</a:t>
            </a:r>
          </a:p>
          <a:p xmlns:a="http://schemas.openxmlformats.org/drawingml/2006/main">
            <a:pPr algn="l">
              <a:defRPr sz="23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Запросы и координаты не сохраняются приложением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6C71BF-65B1-4332-A7D2-6D68D9436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POI-факт отдельно от идеи действия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24F80-ADEE-4BFE-82BE-28DB101E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10572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Нет обещания «открыто сейчас», тишины или розетки</a:t>
            </a:r>
          </a:p>
          <a:p xmlns:a="http://schemas.openxmlformats.org/drawingml/2006/main">
            <a:pPr algn="l">
              <a:defRPr sz="2100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без подтверждения в источнике</a:t>
            </a:r>
          </a:p>
        </p:txBody>
      </p:sp>
    </p:spTree>
    <p:extLst>
      <p:ext uri="{BB962C8B-B14F-4D97-AF65-F5344CB8AC3E}">
        <p14:creationId xmlns:p14="http://schemas.microsoft.com/office/powerpoint/2010/main" val="16435461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2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97761E-A6FE-4E5E-8AFB-D8959B39F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Бизнес-гипотеза и развитие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6D6E2-2CCC-4AC8-8CCC-79BD24D3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6696BD-CDAD-442D-9160-61AEA0EC7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096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Пилот для отелей</a:t>
            </a:r>
          </a:p>
          <a:p xmlns:a="http://schemas.openxmlformats.org/drawingml/2006/main">
            <a:pPr algn="l">
              <a:defRPr sz="3225" b="1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4F0E5"/>
                </a:solidFill>
                <a:latin typeface="Arial"/>
                <a:ea typeface="Arial"/>
                <a:cs typeface="Arial"/>
              </a:rPr>
              <a:t>и туристических стоек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FC14F7-6D04-41AC-960A-214A529E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5225"/>
            <a:ext cx="59055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В пилоте: доля выбранных планов</a:t>
            </a:r>
          </a:p>
          <a:p xmlns:a="http://schemas.openxmlformats.org/drawingml/2006/main">
            <a:pPr algn="l">
              <a:defRPr sz="21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и полезность объяснений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5CA6D-2CCC-440A-B8E7-831FC8EB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866900"/>
            <a:ext cx="3810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defPPr>
            <a:lvl1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1pPr>
            <a:lvl2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2pPr>
            <a:lvl3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3pPr>
            <a:lvl4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4pPr>
            <a:lvl5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5pPr>
            <a:lvl6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6pPr>
            <a:lvl7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7pPr>
            <a:lvl8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8pPr>
            <a:lvl9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63D3BE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63D3BE"/>
                </a:solidFill>
                <a:latin typeface="Arial"/>
                <a:ea typeface="Arial"/>
                <a:cs typeface="Arial"/>
              </a:rPr>
              <a:t>Следующие шаги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D2B09-E029-4CCB-BC9F-17A491C1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52750"/>
            <a:ext cx="3810000" cy="2371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Пешеходные маршруты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Проверка часов и свежести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Оценка с жителями</a:t>
            </a:r>
          </a:p>
          <a:p xmlns:a="http://schemas.openxmlformats.org/drawingml/2006/main">
            <a:pPr algn="l">
              <a:defRPr sz="2025" b="0">
                <a:solidFill>
                  <a:srgbClr val="F4F0E5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4F0E5"/>
                </a:solidFill>
                <a:latin typeface="Arial"/>
                <a:ea typeface="Arial"/>
                <a:cs typeface="Arial"/>
              </a:rPr>
              <a:t>Казахский и английский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44F81-52BB-4861-A089-4C2D1C1E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EC8C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EC8C0"/>
                </a:solidFill>
                <a:latin typeface="Arial"/>
                <a:ea typeface="Arial"/>
                <a:cs typeface="Arial"/>
              </a:rPr>
              <a:t>Коммерческая модель и спрос пока не проверены</a:t>
            </a:r>
          </a:p>
        </p:txBody>
      </p:sp>
    </p:spTree>
    <p:extLst>
      <p:ext uri="{BB962C8B-B14F-4D97-AF65-F5344CB8AC3E}">
        <p14:creationId xmlns:p14="http://schemas.microsoft.com/office/powerpoint/2010/main" val="11723427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C551E-8588-41B3-88D6-94F81798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Материалы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126D2-9F5C-48E7-B5FE-E7DF4AD57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267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F2C0B-12E5-4184-A8D3-7AA35964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5727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Мобильный прототип и PWA</a:t>
            </a:r>
          </a:p>
          <a:p xmlns:a="http://schemas.openxmlformats.org/drawingml/2006/main">
            <a: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Воспроизводимый сбор POI</a:t>
            </a:r>
          </a:p>
          <a:p xmlns:a="http://schemas.openxmlformats.org/drawingml/2006/main">
            <a: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Сценарии и ограничения</a:t>
            </a:r>
          </a:p>
          <a:p xmlns:a="http://schemas.openxmlformats.org/drawingml/2006/main">
            <a:pPr algn="l">
              <a:defRPr sz="3225" b="1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23C3B"/>
                </a:solidFill>
                <a:latin typeface="Arial"/>
                <a:ea typeface="Arial"/>
                <a:cs typeface="Arial"/>
              </a:rPr>
              <a:t>Презентация и демо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24778-2D93-4CC7-886B-5C31E466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057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Ограничения: приблизительный путь, неполные POI,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нет текущих событий и проверки безопасности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Офлайн: оболочка PWA. Подбор требует сервера</a:t>
            </a:r>
          </a:p>
          <a:p xmlns:a="http://schemas.openxmlformats.org/drawingml/2006/main">
            <a:pPr algn="l">
              <a:defRPr sz="2025" b="0">
                <a:solidFill>
                  <a:srgbClr val="55716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5716A"/>
                </a:solidFill>
                <a:latin typeface="Arial"/>
                <a:ea typeface="Arial"/>
                <a:cs typeface="Arial"/>
              </a:rPr>
              <a:t>Демо зависит от включённых ПК и туннеля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D0623B-315B-4BB0-9A57-6D8A9C1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defPPr>
            <a:lvl1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1pPr>
            <a:lvl2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2pPr>
            <a:lvl3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3pPr>
            <a:lvl4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4pPr>
            <a:lvl5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5pPr>
            <a:lvl6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6pPr>
            <a:lvl7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7pPr>
            <a:lvl8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8pPr>
            <a:lvl9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23C3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23C3B"/>
                </a:solidFill>
                <a:latin typeface="Arial"/>
                <a:ea typeface="Arial"/>
                <a:cs typeface="Arial"/>
              </a:rPr>
              <a:t>Временно: entire-burn-cricket-ashley.trycloudflare.com</a:t>
            </a:r>
          </a:p>
        </p:txBody>
      </p:sp>
    </p:spTree>
    <p:extLst>
      <p:ext uri="{BB962C8B-B14F-4D97-AF65-F5344CB8AC3E}">
        <p14:creationId xmlns:p14="http://schemas.microsoft.com/office/powerpoint/2010/main" val="18434110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2026-10-19T20:52:02.9430000Z</dcterms:created>
  <dcterms:modified xsi:type="dcterms:W3CDTF">2026-10-19T20:52:02.9430000Z</dcterms:modified>
</coreProperties>
</file>